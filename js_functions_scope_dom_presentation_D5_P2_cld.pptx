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10"/>
  </p:normalViewPr>
  <p:slideViewPr>
    <p:cSldViewPr snapToGrid="0" snapToObjects="1">
      <p:cViewPr>
        <p:scale>
          <a:sx n="125" d="100"/>
          <a:sy n="125" d="100"/>
        </p:scale>
        <p:origin x="77" y="-5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1745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0D7377">
              <a:alpha val="4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0" y="457200"/>
            <a:ext cx="91440" cy="91440"/>
          </a:xfrm>
          <a:prstGeom prst="ellipse">
            <a:avLst/>
          </a:prstGeom>
          <a:solidFill>
            <a:srgbClr val="0D7377">
              <a:alpha val="60000"/>
            </a:srgbClr>
          </a:solidFill>
          <a:ln w="12700">
            <a:solidFill>
              <a:srgbClr val="0D7377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88352" y="457200"/>
            <a:ext cx="91440" cy="91440"/>
          </a:xfrm>
          <a:prstGeom prst="ellipse">
            <a:avLst/>
          </a:prstGeom>
          <a:solidFill>
            <a:srgbClr val="0D7377">
              <a:alpha val="60000"/>
            </a:srgbClr>
          </a:solidFill>
          <a:ln w="12700">
            <a:solidFill>
              <a:srgbClr val="0D7377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35824" y="457200"/>
            <a:ext cx="91440" cy="91440"/>
          </a:xfrm>
          <a:prstGeom prst="ellipse">
            <a:avLst/>
          </a:prstGeom>
          <a:solidFill>
            <a:srgbClr val="0D7377">
              <a:alpha val="60000"/>
            </a:srgbClr>
          </a:solidFill>
          <a:ln w="12700">
            <a:solidFill>
              <a:srgbClr val="0D7377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83296" y="457200"/>
            <a:ext cx="91440" cy="91440"/>
          </a:xfrm>
          <a:prstGeom prst="ellipse">
            <a:avLst/>
          </a:prstGeom>
          <a:solidFill>
            <a:srgbClr val="0D7377">
              <a:alpha val="60000"/>
            </a:srgbClr>
          </a:solidFill>
          <a:ln w="12700">
            <a:solidFill>
              <a:srgbClr val="0D7377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0" y="1207008"/>
            <a:ext cx="91440" cy="91440"/>
          </a:xfrm>
          <a:prstGeom prst="ellipse">
            <a:avLst/>
          </a:prstGeom>
          <a:solidFill>
            <a:srgbClr val="0D7377">
              <a:alpha val="60000"/>
            </a:srgbClr>
          </a:solidFill>
          <a:ln w="12700">
            <a:solidFill>
              <a:srgbClr val="0D7377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88352" y="1207008"/>
            <a:ext cx="91440" cy="91440"/>
          </a:xfrm>
          <a:prstGeom prst="ellipse">
            <a:avLst/>
          </a:prstGeom>
          <a:solidFill>
            <a:srgbClr val="0D7377">
              <a:alpha val="60000"/>
            </a:srgbClr>
          </a:solidFill>
          <a:ln w="12700">
            <a:solidFill>
              <a:srgbClr val="0D7377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35824" y="1207008"/>
            <a:ext cx="91440" cy="91440"/>
          </a:xfrm>
          <a:prstGeom prst="ellipse">
            <a:avLst/>
          </a:prstGeom>
          <a:solidFill>
            <a:srgbClr val="0D7377">
              <a:alpha val="60000"/>
            </a:srgbClr>
          </a:solidFill>
          <a:ln w="12700">
            <a:solidFill>
              <a:srgbClr val="0D7377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83296" y="1207008"/>
            <a:ext cx="91440" cy="91440"/>
          </a:xfrm>
          <a:prstGeom prst="ellipse">
            <a:avLst/>
          </a:prstGeom>
          <a:solidFill>
            <a:srgbClr val="0D7377">
              <a:alpha val="60000"/>
            </a:srgbClr>
          </a:solidFill>
          <a:ln w="12700">
            <a:solidFill>
              <a:srgbClr val="0D7377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0" y="1956816"/>
            <a:ext cx="91440" cy="91440"/>
          </a:xfrm>
          <a:prstGeom prst="ellipse">
            <a:avLst/>
          </a:prstGeom>
          <a:solidFill>
            <a:srgbClr val="0D7377">
              <a:alpha val="60000"/>
            </a:srgbClr>
          </a:solidFill>
          <a:ln w="12700">
            <a:solidFill>
              <a:srgbClr val="0D7377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88352" y="1956816"/>
            <a:ext cx="91440" cy="91440"/>
          </a:xfrm>
          <a:prstGeom prst="ellipse">
            <a:avLst/>
          </a:prstGeom>
          <a:solidFill>
            <a:srgbClr val="0D7377">
              <a:alpha val="60000"/>
            </a:srgbClr>
          </a:solidFill>
          <a:ln w="12700">
            <a:solidFill>
              <a:srgbClr val="0D7377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35824" y="1956816"/>
            <a:ext cx="91440" cy="91440"/>
          </a:xfrm>
          <a:prstGeom prst="ellipse">
            <a:avLst/>
          </a:prstGeom>
          <a:solidFill>
            <a:srgbClr val="0D7377">
              <a:alpha val="60000"/>
            </a:srgbClr>
          </a:solidFill>
          <a:ln w="12700">
            <a:solidFill>
              <a:srgbClr val="0D7377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83296" y="1956816"/>
            <a:ext cx="91440" cy="91440"/>
          </a:xfrm>
          <a:prstGeom prst="ellipse">
            <a:avLst/>
          </a:prstGeom>
          <a:solidFill>
            <a:srgbClr val="0D7377">
              <a:alpha val="60000"/>
            </a:srgbClr>
          </a:solidFill>
          <a:ln w="12700">
            <a:solidFill>
              <a:srgbClr val="0D7377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2706624"/>
            <a:ext cx="91440" cy="91440"/>
          </a:xfrm>
          <a:prstGeom prst="ellipse">
            <a:avLst/>
          </a:prstGeom>
          <a:solidFill>
            <a:srgbClr val="0D7377">
              <a:alpha val="60000"/>
            </a:srgbClr>
          </a:solidFill>
          <a:ln w="12700">
            <a:solidFill>
              <a:srgbClr val="0D7377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88352" y="2706624"/>
            <a:ext cx="91440" cy="91440"/>
          </a:xfrm>
          <a:prstGeom prst="ellipse">
            <a:avLst/>
          </a:prstGeom>
          <a:solidFill>
            <a:srgbClr val="0D7377">
              <a:alpha val="60000"/>
            </a:srgbClr>
          </a:solidFill>
          <a:ln w="12700">
            <a:solidFill>
              <a:srgbClr val="0D7377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35824" y="2706624"/>
            <a:ext cx="91440" cy="91440"/>
          </a:xfrm>
          <a:prstGeom prst="ellipse">
            <a:avLst/>
          </a:prstGeom>
          <a:solidFill>
            <a:srgbClr val="0D7377">
              <a:alpha val="60000"/>
            </a:srgbClr>
          </a:solidFill>
          <a:ln w="12700">
            <a:solidFill>
              <a:srgbClr val="0D7377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83296" y="2706624"/>
            <a:ext cx="91440" cy="91440"/>
          </a:xfrm>
          <a:prstGeom prst="ellipse">
            <a:avLst/>
          </a:prstGeom>
          <a:solidFill>
            <a:srgbClr val="0D7377">
              <a:alpha val="60000"/>
            </a:srgbClr>
          </a:solidFill>
          <a:ln w="12700">
            <a:solidFill>
              <a:srgbClr val="0D7377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0880" y="3456432"/>
            <a:ext cx="91440" cy="91440"/>
          </a:xfrm>
          <a:prstGeom prst="ellipse">
            <a:avLst/>
          </a:prstGeom>
          <a:solidFill>
            <a:srgbClr val="0D7377">
              <a:alpha val="60000"/>
            </a:srgbClr>
          </a:solidFill>
          <a:ln w="12700">
            <a:solidFill>
              <a:srgbClr val="0D7377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88352" y="3456432"/>
            <a:ext cx="91440" cy="91440"/>
          </a:xfrm>
          <a:prstGeom prst="ellipse">
            <a:avLst/>
          </a:prstGeom>
          <a:solidFill>
            <a:srgbClr val="0D7377">
              <a:alpha val="60000"/>
            </a:srgbClr>
          </a:solidFill>
          <a:ln w="12700">
            <a:solidFill>
              <a:srgbClr val="0D7377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35824" y="3456432"/>
            <a:ext cx="91440" cy="91440"/>
          </a:xfrm>
          <a:prstGeom prst="ellipse">
            <a:avLst/>
          </a:prstGeom>
          <a:solidFill>
            <a:srgbClr val="0D7377">
              <a:alpha val="60000"/>
            </a:srgbClr>
          </a:solidFill>
          <a:ln w="12700">
            <a:solidFill>
              <a:srgbClr val="0D7377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83296" y="3456432"/>
            <a:ext cx="91440" cy="91440"/>
          </a:xfrm>
          <a:prstGeom prst="ellipse">
            <a:avLst/>
          </a:prstGeom>
          <a:solidFill>
            <a:srgbClr val="0D7377">
              <a:alpha val="60000"/>
            </a:srgbClr>
          </a:solidFill>
          <a:ln w="12700">
            <a:solidFill>
              <a:srgbClr val="0D7377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40880" y="4206240"/>
            <a:ext cx="91440" cy="91440"/>
          </a:xfrm>
          <a:prstGeom prst="ellipse">
            <a:avLst/>
          </a:prstGeom>
          <a:solidFill>
            <a:srgbClr val="0D7377">
              <a:alpha val="60000"/>
            </a:srgbClr>
          </a:solidFill>
          <a:ln w="12700">
            <a:solidFill>
              <a:srgbClr val="0D7377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88352" y="4206240"/>
            <a:ext cx="91440" cy="91440"/>
          </a:xfrm>
          <a:prstGeom prst="ellipse">
            <a:avLst/>
          </a:prstGeom>
          <a:solidFill>
            <a:srgbClr val="0D7377">
              <a:alpha val="60000"/>
            </a:srgbClr>
          </a:solidFill>
          <a:ln w="12700">
            <a:solidFill>
              <a:srgbClr val="0D7377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35824" y="4206240"/>
            <a:ext cx="91440" cy="91440"/>
          </a:xfrm>
          <a:prstGeom prst="ellipse">
            <a:avLst/>
          </a:prstGeom>
          <a:solidFill>
            <a:srgbClr val="0D7377">
              <a:alpha val="60000"/>
            </a:srgbClr>
          </a:solidFill>
          <a:ln w="12700">
            <a:solidFill>
              <a:srgbClr val="0D7377">
                <a:alpha val="6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83296" y="4206240"/>
            <a:ext cx="91440" cy="91440"/>
          </a:xfrm>
          <a:prstGeom prst="ellipse">
            <a:avLst/>
          </a:prstGeom>
          <a:solidFill>
            <a:srgbClr val="0D7377">
              <a:alpha val="60000"/>
            </a:srgbClr>
          </a:solidFill>
          <a:ln w="12700">
            <a:solidFill>
              <a:srgbClr val="0D7377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50292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DEVELOPMENT SERIES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86868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8ABE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to JavaScript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65760" y="1417320"/>
            <a:ext cx="6217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Functions, Scope,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Objects &amp; the DOM</a:t>
            </a:r>
            <a:endParaRPr lang="en-US" sz="4400" dirty="0"/>
          </a:p>
        </p:txBody>
      </p:sp>
      <p:sp>
        <p:nvSpPr>
          <p:cNvPr id="32" name="Shape 30"/>
          <p:cNvSpPr/>
          <p:nvPr/>
        </p:nvSpPr>
        <p:spPr>
          <a:xfrm>
            <a:off x="365760" y="3200400"/>
            <a:ext cx="329184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3375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ABE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Master the core building blocks of interactive web development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65760" y="3840480"/>
            <a:ext cx="2011680" cy="365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840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Functions &amp; Parameters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514600" y="3840480"/>
            <a:ext cx="2011680" cy="3657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06040" y="3840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Variable Scope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3840480"/>
            <a:ext cx="2011680" cy="365760"/>
          </a:xfrm>
          <a:prstGeom prst="rect">
            <a:avLst/>
          </a:prstGeom>
          <a:solidFill>
            <a:srgbClr val="117864"/>
          </a:solidFill>
          <a:ln w="12700">
            <a:solidFill>
              <a:srgbClr val="11786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840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JavaScript Objects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812280" y="3840480"/>
            <a:ext cx="2011680" cy="36576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03720" y="3840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 Manipulation</a:t>
            </a:r>
            <a:endParaRPr lang="en-US" sz="1000" dirty="0"/>
          </a:p>
        </p:txBody>
      </p:sp>
      <p:pic>
        <p:nvPicPr>
          <p:cNvPr id="4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463040"/>
            <a:ext cx="1097280" cy="1097280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7315200" y="2834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</a:t>
            </a:r>
            <a:endParaRPr lang="en-US" sz="2000" dirty="0"/>
          </a:p>
        </p:txBody>
      </p:sp>
      <p:sp>
        <p:nvSpPr>
          <p:cNvPr id="44" name="Text 41"/>
          <p:cNvSpPr/>
          <p:nvPr/>
        </p:nvSpPr>
        <p:spPr>
          <a:xfrm>
            <a:off x="8686800" y="4754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MODULE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0" y="4754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02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2084832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51560"/>
            <a:ext cx="2084832" cy="6583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133856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5528" y="105156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Functions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9768" y="1947672"/>
            <a:ext cx="146304" cy="146304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9224" y="18745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Declarations &amp; Expressions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" y="2587752"/>
            <a:ext cx="146304" cy="146304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9224" y="25146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Arrow Functions (ES6+)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29768" y="3227832"/>
            <a:ext cx="146304" cy="146304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9224" y="31546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Parameters &amp; Default Values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29768" y="3867912"/>
            <a:ext cx="146304" cy="146304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9224" y="37947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 Params &amp; Return Values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441448" y="1051560"/>
            <a:ext cx="2084832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441448" y="1051560"/>
            <a:ext cx="2084832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176" y="1133856"/>
            <a:ext cx="384048" cy="38404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008376" y="105156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Variable Scope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2642616" y="1947672"/>
            <a:ext cx="146304" cy="146304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862072" y="18745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Scope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2642616" y="2587752"/>
            <a:ext cx="146304" cy="146304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862072" y="25146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 (Local) Scope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2642616" y="3227832"/>
            <a:ext cx="146304" cy="146304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2862072" y="31546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 Scope (let/const)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2642616" y="3867912"/>
            <a:ext cx="146304" cy="146304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862072" y="37947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Closures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4654296" y="1051560"/>
            <a:ext cx="2084832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4654296" y="1051560"/>
            <a:ext cx="2084832" cy="658368"/>
          </a:xfrm>
          <a:prstGeom prst="rect">
            <a:avLst/>
          </a:prstGeom>
          <a:solidFill>
            <a:srgbClr val="117864"/>
          </a:solidFill>
          <a:ln w="12700">
            <a:solidFill>
              <a:srgbClr val="117864"/>
            </a:solidFill>
            <a:prstDash val="solid"/>
          </a:ln>
        </p:spPr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4024" y="1133856"/>
            <a:ext cx="384048" cy="38404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5221224" y="105156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JS Objects</a:t>
            </a:r>
            <a:endParaRPr lang="en-US" sz="1150" dirty="0"/>
          </a:p>
        </p:txBody>
      </p:sp>
      <p:sp>
        <p:nvSpPr>
          <p:cNvPr id="34" name="Shape 29"/>
          <p:cNvSpPr/>
          <p:nvPr/>
        </p:nvSpPr>
        <p:spPr>
          <a:xfrm>
            <a:off x="4855464" y="1947672"/>
            <a:ext cx="146304" cy="146304"/>
          </a:xfrm>
          <a:prstGeom prst="ellipse">
            <a:avLst/>
          </a:prstGeom>
          <a:solidFill>
            <a:srgbClr val="117864"/>
          </a:solidFill>
          <a:ln w="12700">
            <a:solidFill>
              <a:srgbClr val="117864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5074920" y="18745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 Literals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4855464" y="2587752"/>
            <a:ext cx="146304" cy="146304"/>
          </a:xfrm>
          <a:prstGeom prst="ellipse">
            <a:avLst/>
          </a:prstGeom>
          <a:solidFill>
            <a:srgbClr val="117864"/>
          </a:solidFill>
          <a:ln w="12700">
            <a:solidFill>
              <a:srgbClr val="117864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5074920" y="25146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Constructor Functions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4855464" y="3227832"/>
            <a:ext cx="146304" cy="146304"/>
          </a:xfrm>
          <a:prstGeom prst="ellipse">
            <a:avLst/>
          </a:prstGeom>
          <a:solidFill>
            <a:srgbClr val="117864"/>
          </a:solidFill>
          <a:ln w="12700">
            <a:solidFill>
              <a:srgbClr val="117864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5074920" y="31546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ES6 Classes &amp; Inheritance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4855464" y="3867912"/>
            <a:ext cx="146304" cy="146304"/>
          </a:xfrm>
          <a:prstGeom prst="ellipse">
            <a:avLst/>
          </a:prstGeom>
          <a:solidFill>
            <a:srgbClr val="117864"/>
          </a:solidFill>
          <a:ln w="12700">
            <a:solidFill>
              <a:srgbClr val="117864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074920" y="37947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Destructuring &amp; Spread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6867144" y="1051560"/>
            <a:ext cx="2084832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38"/>
          <p:cNvSpPr/>
          <p:nvPr/>
        </p:nvSpPr>
        <p:spPr>
          <a:xfrm>
            <a:off x="6867144" y="1051560"/>
            <a:ext cx="2084832" cy="65836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6872" y="1133856"/>
            <a:ext cx="384048" cy="384048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7434072" y="105156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DOM &amp; Events</a:t>
            </a:r>
            <a:endParaRPr lang="en-US" sz="1150" dirty="0"/>
          </a:p>
        </p:txBody>
      </p:sp>
      <p:sp>
        <p:nvSpPr>
          <p:cNvPr id="46" name="Shape 40"/>
          <p:cNvSpPr/>
          <p:nvPr/>
        </p:nvSpPr>
        <p:spPr>
          <a:xfrm>
            <a:off x="7068312" y="1947672"/>
            <a:ext cx="146304" cy="146304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7287768" y="18745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 Tree Structure</a:t>
            </a:r>
            <a:endParaRPr lang="en-US" sz="1000" dirty="0"/>
          </a:p>
        </p:txBody>
      </p:sp>
      <p:sp>
        <p:nvSpPr>
          <p:cNvPr id="48" name="Shape 42"/>
          <p:cNvSpPr/>
          <p:nvPr/>
        </p:nvSpPr>
        <p:spPr>
          <a:xfrm>
            <a:off x="7068312" y="2587752"/>
            <a:ext cx="146304" cy="146304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7287768" y="25146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Selecting Elements</a:t>
            </a:r>
            <a:endParaRPr lang="en-US" sz="1000" dirty="0"/>
          </a:p>
        </p:txBody>
      </p:sp>
      <p:sp>
        <p:nvSpPr>
          <p:cNvPr id="50" name="Shape 44"/>
          <p:cNvSpPr/>
          <p:nvPr/>
        </p:nvSpPr>
        <p:spPr>
          <a:xfrm>
            <a:off x="7068312" y="3227832"/>
            <a:ext cx="146304" cy="146304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7287768" y="31546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Manipulating Content &amp; Style</a:t>
            </a:r>
            <a:endParaRPr lang="en-US" sz="1000" dirty="0"/>
          </a:p>
        </p:txBody>
      </p:sp>
      <p:sp>
        <p:nvSpPr>
          <p:cNvPr id="52" name="Shape 46"/>
          <p:cNvSpPr/>
          <p:nvPr/>
        </p:nvSpPr>
        <p:spPr>
          <a:xfrm>
            <a:off x="7068312" y="3867912"/>
            <a:ext cx="146304" cy="146304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53" name="Text 47"/>
          <p:cNvSpPr/>
          <p:nvPr/>
        </p:nvSpPr>
        <p:spPr>
          <a:xfrm>
            <a:off x="7287768" y="37947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 Handling &amp; Delegation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116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Functions — Three Ways to Declare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686800" y="4754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03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01168" y="1051560"/>
            <a:ext cx="2816352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01168" y="1051560"/>
            <a:ext cx="2816352" cy="8686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0896" y="1143000"/>
            <a:ext cx="658368" cy="20116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0896" y="114300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TRADITIONAL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292608" y="137160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Declaration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292608" y="1993392"/>
            <a:ext cx="2633472" cy="256032"/>
          </a:xfrm>
          <a:prstGeom prst="rect">
            <a:avLst/>
          </a:prstGeom>
          <a:solidFill>
            <a:srgbClr val="0A5A5E"/>
          </a:solidFill>
          <a:ln w="12700">
            <a:solidFill>
              <a:srgbClr val="0A5A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2608" y="199339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F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HOISTED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92608" y="2240280"/>
            <a:ext cx="2633472" cy="2514600"/>
          </a:xfrm>
          <a:prstGeom prst="rect">
            <a:avLst/>
          </a:prstGeom>
          <a:solidFill>
            <a:srgbClr val="1A2540"/>
          </a:solidFill>
          <a:ln w="12700">
            <a:solidFill>
              <a:srgbClr val="0A0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10777" y="294894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greet(name) {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10896" y="3259836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'Hello, ' + name;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84048" y="3570732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65760" y="333756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93776" y="2306574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Call BEFORE declaration: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10777" y="2644374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console.log(greet(‘Alice’)); // ✓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163824" y="1051560"/>
            <a:ext cx="2816352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163824" y="1051560"/>
            <a:ext cx="2816352" cy="8686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273552" y="1143000"/>
            <a:ext cx="658368" cy="20116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73552" y="114300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ASSIGNED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3255264" y="137160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Expression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3255264" y="1993392"/>
            <a:ext cx="2633472" cy="256032"/>
          </a:xfrm>
          <a:prstGeom prst="rect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55264" y="199339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F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HOISTED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255264" y="2322576"/>
            <a:ext cx="2633472" cy="2450592"/>
          </a:xfrm>
          <a:prstGeom prst="rect">
            <a:avLst/>
          </a:prstGeom>
          <a:solidFill>
            <a:srgbClr val="1A2540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328416" y="237744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multiply =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3328416" y="269748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function(a, b) {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3328416" y="301752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 * b;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3328416" y="333756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3328416" y="365760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3328416" y="3993114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Console.log(multiply(4, 5)); // 20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6126480" y="1051560"/>
            <a:ext cx="2816352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126480" y="1051560"/>
            <a:ext cx="2816352" cy="868680"/>
          </a:xfrm>
          <a:prstGeom prst="rect">
            <a:avLst/>
          </a:prstGeom>
          <a:solidFill>
            <a:srgbClr val="117864"/>
          </a:solidFill>
          <a:ln w="12700">
            <a:solidFill>
              <a:srgbClr val="11786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236208" y="1143000"/>
            <a:ext cx="658368" cy="201168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236208" y="114300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ES6+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6217920" y="137160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Arrow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6217920" y="1993392"/>
            <a:ext cx="2633472" cy="256032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217920" y="199339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F0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OWN 'this'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217920" y="2228322"/>
            <a:ext cx="2633472" cy="2544845"/>
          </a:xfrm>
          <a:prstGeom prst="rect">
            <a:avLst/>
          </a:prstGeom>
          <a:solidFill>
            <a:srgbClr val="1A2540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291072" y="237744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square = n =&gt; n * n;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6291072" y="269748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add = (a,b) =&gt; a + b;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6291072" y="301752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6291072" y="2999232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Multi-line body :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6291072" y="3340374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greet = (name) =&gt; {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6199632" y="3661116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'Hello, ' + name;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6272784" y="388198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5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18C8403-5A54-C6E9-CE09-B156B6BBD9DE}"/>
              </a:ext>
            </a:extLst>
          </p:cNvPr>
          <p:cNvSpPr txBox="1"/>
          <p:nvPr/>
        </p:nvSpPr>
        <p:spPr>
          <a:xfrm>
            <a:off x="6358597" y="4192876"/>
            <a:ext cx="2082018" cy="238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50" dirty="0">
                <a:solidFill>
                  <a:srgbClr val="A8D8A8"/>
                </a:solidFill>
                <a:latin typeface="Consolas" pitchFamily="34" charset="0"/>
              </a:rPr>
              <a:t>Console.log(greet(‘Alice’));</a:t>
            </a:r>
            <a:endParaRPr lang="en-IN" sz="950" dirty="0">
              <a:solidFill>
                <a:srgbClr val="A8D8A8"/>
              </a:solidFill>
              <a:latin typeface="Consolas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116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1.2 Handling Parameters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686800" y="4754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04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01168" y="1078992"/>
            <a:ext cx="40690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01168" y="1078992"/>
            <a:ext cx="201168" cy="1188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01168" y="1078992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ES6+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475488" y="11521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Default Parameters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" y="1463040"/>
            <a:ext cx="3547872" cy="713232"/>
          </a:xfrm>
          <a:prstGeom prst="rect">
            <a:avLst/>
          </a:prstGeom>
          <a:solidFill>
            <a:srgbClr val="1A2540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1499616"/>
            <a:ext cx="34198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greet(name = "World") {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30352" y="1659636"/>
            <a:ext cx="34198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"Hello, " + name;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30352" y="1819656"/>
            <a:ext cx="34198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30352" y="1979676"/>
            <a:ext cx="34198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greet();         // Hello, World!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01168" y="2404872"/>
            <a:ext cx="40690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01168" y="2404872"/>
            <a:ext cx="201168" cy="11887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01168" y="2404872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ES6+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475488" y="24780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 Parameters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5488" y="2788920"/>
            <a:ext cx="3547872" cy="827532"/>
          </a:xfrm>
          <a:prstGeom prst="rect">
            <a:avLst/>
          </a:prstGeom>
          <a:solidFill>
            <a:srgbClr val="1A2540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0352" y="2825496"/>
            <a:ext cx="34198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sum(...numbers) {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530352" y="2985516"/>
            <a:ext cx="34198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numbers.reduce(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30352" y="3145536"/>
            <a:ext cx="34198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(t, n) =&gt; t + n, 0);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30352" y="3305556"/>
            <a:ext cx="34198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30352" y="3465576"/>
            <a:ext cx="34198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sum(1,2,3); // 6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01168" y="3730752"/>
            <a:ext cx="40690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201168" y="3730752"/>
            <a:ext cx="201168" cy="1188720"/>
          </a:xfrm>
          <a:prstGeom prst="rect">
            <a:avLst/>
          </a:prstGeom>
          <a:solidFill>
            <a:srgbClr val="117864"/>
          </a:solidFill>
          <a:ln w="12700">
            <a:solidFill>
              <a:srgbClr val="11786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01168" y="3730752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475488" y="38039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7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 Values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75488" y="4114800"/>
            <a:ext cx="3547872" cy="804672"/>
          </a:xfrm>
          <a:prstGeom prst="rect">
            <a:avLst/>
          </a:prstGeom>
          <a:solidFill>
            <a:srgbClr val="1A2540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30352" y="4151376"/>
            <a:ext cx="34198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getUser(id) {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530352" y="4311396"/>
            <a:ext cx="34198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 id, name: "Alice" };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530352" y="4471416"/>
            <a:ext cx="34198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530352" y="4631436"/>
            <a:ext cx="34198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user = getUser(42);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525780" y="4816602"/>
            <a:ext cx="3419856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console.log(user.name); // Alice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498848" y="1051560"/>
            <a:ext cx="4434840" cy="3913632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498848" y="1051560"/>
            <a:ext cx="4434840" cy="4754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663440" y="105156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RULES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4645152" y="1664208"/>
            <a:ext cx="256032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645152" y="1664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4974336" y="16459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Parameters are placeholders; arguments are actual values passed at call time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4645152" y="2194560"/>
            <a:ext cx="256032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645152" y="2194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974336" y="21762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 few arguments → missing ones become undefined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4645152" y="2724912"/>
            <a:ext cx="256032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645152" y="2724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4974336" y="27066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 many arguments → extra ones are simply ignored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4645152" y="3255264"/>
            <a:ext cx="256032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645152" y="32552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4974336" y="32369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Default parameters activate when argument is undefined (not 0 or null)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4645152" y="3785616"/>
            <a:ext cx="256032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645152" y="3785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4974336" y="37673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 parameter (...args) must always be the LAST parameter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4645152" y="4315968"/>
            <a:ext cx="256032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645152" y="4315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4974336" y="4297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Functions without return statement return undefined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116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1.3 Understanding Variable Scope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686800" y="4754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05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28600" y="1078992"/>
            <a:ext cx="4069080" cy="3858768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111556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SCOPE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84048" y="14813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appName = 'MyApp';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02920" y="1828800"/>
            <a:ext cx="3493008" cy="1828800"/>
          </a:xfrm>
          <a:prstGeom prst="rect">
            <a:avLst/>
          </a:prstGeom>
          <a:solidFill>
            <a:srgbClr val="D6EAF8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18653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 SCOPE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85800" y="22128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/ let / const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04672" y="2578608"/>
            <a:ext cx="2889504" cy="914400"/>
          </a:xfrm>
          <a:prstGeom prst="rect">
            <a:avLst/>
          </a:prstGeom>
          <a:solidFill>
            <a:srgbClr val="A9CCE3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96112" y="26151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43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 SCOPE  { }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87552" y="296265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543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/ const only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1051560" y="3291840"/>
            <a:ext cx="2377440" cy="896112"/>
          </a:xfrm>
          <a:prstGeom prst="rect">
            <a:avLst/>
          </a:prstGeom>
          <a:solidFill>
            <a:srgbClr val="0D7377">
              <a:alpha val="70000"/>
            </a:srgbClr>
          </a:solidFill>
          <a:ln w="19050">
            <a:solidFill>
              <a:srgbClr val="0D73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43000" y="33284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CLOSURE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78992" y="36393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fn 'closes over'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78992" y="385876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outer variables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526280" y="1078992"/>
            <a:ext cx="4416552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26280" y="1078992"/>
            <a:ext cx="4416552" cy="31089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63440" y="107899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Scope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617720" y="1444752"/>
            <a:ext cx="4251960" cy="859536"/>
          </a:xfrm>
          <a:prstGeom prst="rect">
            <a:avLst/>
          </a:prstGeom>
          <a:solidFill>
            <a:srgbClr val="1A2540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81728" y="14813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app = 'MyApp'; // accessible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681728" y="16459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show() {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4681728" y="181051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console.log(app); // ✓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4681728" y="197510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526280" y="2432304"/>
            <a:ext cx="4416552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526280" y="2432304"/>
            <a:ext cx="4416552" cy="31089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663440" y="243230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 Scope with let/const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617720" y="2798064"/>
            <a:ext cx="4251960" cy="859536"/>
          </a:xfrm>
          <a:prstGeom prst="rect">
            <a:avLst/>
          </a:prstGeom>
          <a:solidFill>
            <a:srgbClr val="1A2540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681728" y="28346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(true) {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681728" y="29992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x = 'block';  // inside only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4681728" y="316382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y = 'leaked'; // escapes!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681728" y="332841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4681728" y="349300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console.log(y); // 'leaked'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526280" y="3785616"/>
            <a:ext cx="4416552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4526280" y="3785616"/>
            <a:ext cx="4416552" cy="310896"/>
          </a:xfrm>
          <a:prstGeom prst="rect">
            <a:avLst/>
          </a:prstGeom>
          <a:solidFill>
            <a:srgbClr val="117864"/>
          </a:solidFill>
          <a:ln w="12700">
            <a:solidFill>
              <a:srgbClr val="11786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663440" y="378561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Closure — Data Privacy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617720" y="4151376"/>
            <a:ext cx="4251960" cy="1024128"/>
          </a:xfrm>
          <a:prstGeom prst="rect">
            <a:avLst/>
          </a:prstGeom>
          <a:solidFill>
            <a:srgbClr val="1A2540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681728" y="4187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makeCounter() {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4681728" y="435254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count = 0;  // private!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4681728" y="451713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() =&gt; ++count;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4681728" y="46817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681728" y="48463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 = makeCounter();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4681728" y="501091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c(); // 1  c(); // 2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116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JavaScript Objects — Creating &amp; Using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686800" y="4754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06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01168" y="1078992"/>
            <a:ext cx="2816352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01168" y="1078992"/>
            <a:ext cx="2816352" cy="4754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21408" y="1115568"/>
            <a:ext cx="749808" cy="201168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21408" y="111556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SIMPLEST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292608" y="1078992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 Literal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92608" y="1627632"/>
            <a:ext cx="2633472" cy="2633472"/>
          </a:xfrm>
          <a:prstGeom prst="rect">
            <a:avLst/>
          </a:prstGeom>
          <a:solidFill>
            <a:srgbClr val="1A2540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1682496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person = {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65760" y="1993392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"Alice",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65760" y="2304288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age: 30,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65760" y="2615184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greet() {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65760" y="2926080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'Hi, I am ' +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65760" y="3236976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this.name;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65760" y="3547872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65760" y="3858768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163824" y="1078992"/>
            <a:ext cx="2816352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163824" y="1078992"/>
            <a:ext cx="2816352" cy="47548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084064" y="1115568"/>
            <a:ext cx="749808" cy="201168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84064" y="111556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REUSABLE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3255264" y="1078992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Constructor Function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255264" y="1627632"/>
            <a:ext cx="2633472" cy="2633472"/>
          </a:xfrm>
          <a:prstGeom prst="rect">
            <a:avLst/>
          </a:prstGeom>
          <a:solidFill>
            <a:srgbClr val="1A2540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328416" y="1682496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Product(name, price) {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328416" y="1993392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this.name = name;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3328416" y="2304288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this.price = price;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3328416" y="2615184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this.label = () =&gt;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3328416" y="2926080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`${name} - $${price}`;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3328416" y="3236976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3328416" y="3547872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 = new Product(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3328416" y="3858768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'Phone', 999);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126480" y="1078992"/>
            <a:ext cx="2816352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126480" y="1078992"/>
            <a:ext cx="2816352" cy="475488"/>
          </a:xfrm>
          <a:prstGeom prst="rect">
            <a:avLst/>
          </a:prstGeom>
          <a:solidFill>
            <a:srgbClr val="117864"/>
          </a:solidFill>
          <a:ln w="12700">
            <a:solidFill>
              <a:srgbClr val="11786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046720" y="1115568"/>
            <a:ext cx="749808" cy="201168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046720" y="111556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MODERN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6217920" y="1078992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ES6 Class Syntax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6217920" y="1627632"/>
            <a:ext cx="2633472" cy="2633472"/>
          </a:xfrm>
          <a:prstGeom prst="rect">
            <a:avLst/>
          </a:prstGeom>
          <a:solidFill>
            <a:srgbClr val="1A2540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291072" y="1682496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Animal {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291072" y="1993392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constructor(name) {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6291072" y="2304288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this.name = name;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6291072" y="2615184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6291072" y="2926080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speak() {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6291072" y="3236976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this.name + '!';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6291072" y="3547872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6291072" y="3858768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201168" y="4462272"/>
            <a:ext cx="8741664" cy="54864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274320" y="44805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F0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car.color = 'Blue'  → ADD property</a:t>
            </a:r>
            <a:endParaRPr lang="en-US" sz="750" dirty="0"/>
          </a:p>
        </p:txBody>
      </p:sp>
      <p:sp>
        <p:nvSpPr>
          <p:cNvPr id="51" name="Text 48"/>
          <p:cNvSpPr/>
          <p:nvPr/>
        </p:nvSpPr>
        <p:spPr>
          <a:xfrm>
            <a:off x="1737360" y="44805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F0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car.year = 2024  → UPDATE property</a:t>
            </a:r>
            <a:endParaRPr lang="en-US" sz="750" dirty="0"/>
          </a:p>
        </p:txBody>
      </p:sp>
      <p:sp>
        <p:nvSpPr>
          <p:cNvPr id="52" name="Text 49"/>
          <p:cNvSpPr/>
          <p:nvPr/>
        </p:nvSpPr>
        <p:spPr>
          <a:xfrm>
            <a:off x="3200400" y="44805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F0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car.color  → REMOVE property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4663440" y="44805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F0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'make' in car  → CHECK existence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6126480" y="44805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F0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Object.keys(car)  → GET all keys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7589520" y="44805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F0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...user, age: 29 }  → SPREAD / merge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116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2.2 Destructuring &amp; Spread Operator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686800" y="4754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07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01168" y="1051560"/>
            <a:ext cx="4224528" cy="3913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01168" y="1051560"/>
            <a:ext cx="4224528" cy="43891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105156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DESTRUCTURING  — Extract properties into variables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92608" y="1572768"/>
            <a:ext cx="4041648" cy="3246120"/>
          </a:xfrm>
          <a:prstGeom prst="rect">
            <a:avLst/>
          </a:prstGeom>
          <a:solidFill>
            <a:srgbClr val="1A2540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4048" y="1627632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user = { name:"Alice", age:28, city:"Chennai" };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1856232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84048" y="2084832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Basic destructuring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2313432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name, age } = user;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84048" y="2542032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console.log(name, age); // Alice 28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2770632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84048" y="2999232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Rename while destructuring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84048" y="3227832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name: userName, city: location } = user;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84048" y="3456432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console.log(userName, location); // Alice Chennai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84048" y="3685032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84048" y="3913632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Array destructuring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84048" y="4142232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[first, second] = ['red','green','blue'];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84048" y="4370832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console.log(first); // red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718304" y="1051560"/>
            <a:ext cx="4224528" cy="3913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718304" y="1051560"/>
            <a:ext cx="4224528" cy="43891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28032" y="105156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SPREAD  — Copy &amp; merge objects/arrays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809744" y="1572768"/>
            <a:ext cx="4041648" cy="3246120"/>
          </a:xfrm>
          <a:prstGeom prst="rect">
            <a:avLst/>
          </a:prstGeom>
          <a:solidFill>
            <a:srgbClr val="1A2540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01184" y="1627632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user = { name:"Alice", age: 28, city:"Chennai" };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901184" y="1856232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901184" y="2084832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Merge with overrides (original unchanged)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901184" y="2313432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updated = {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901184" y="2542032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...user,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901184" y="2770632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age: 29,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901184" y="2999232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email: "alice@example.com"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901184" y="3227832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901184" y="3456432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console.log(updated);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4901184" y="3685032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{ name:'Alice', age:29, city:'Chennai',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4901184" y="3913632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email:'alice@example.com' }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4901184" y="4142232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4901184" y="4370832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console.log(user.age); // 28 (unchanged)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116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The Document Object Model (DOM)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686800" y="4754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08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01168" y="1051560"/>
            <a:ext cx="4114800" cy="3913632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01168" y="1051560"/>
            <a:ext cx="4114800" cy="40233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105156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 TREE STRUCTURE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84048" y="15544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66928" y="18745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html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95528" y="21945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head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24128" y="25146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C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└── title ("My Page")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95528" y="28346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body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24128" y="31546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C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h1#title ("Hello")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24128" y="34747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C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p.intro ("Welcome")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24128" y="37947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ul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252728" y="41148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D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li ("Item 1")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252728" y="44348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D0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li ("Item 2")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53712" y="1051560"/>
            <a:ext cx="4407408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53712" y="1051560"/>
            <a:ext cx="128016" cy="87782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54880" y="110642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querySelector()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754880" y="1362456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 matching element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754880" y="1581912"/>
            <a:ext cx="4069080" cy="237744"/>
          </a:xfrm>
          <a:prstGeom prst="rect">
            <a:avLst/>
          </a:prstGeom>
          <a:solidFill>
            <a:srgbClr val="1A2540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28032" y="15910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document.querySelector("#title")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553712" y="2020824"/>
            <a:ext cx="4407408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553712" y="2020824"/>
            <a:ext cx="128016" cy="87782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54880" y="207568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querySelectorAll()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754880" y="23317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NodeList of all matches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754880" y="2551176"/>
            <a:ext cx="4069080" cy="237744"/>
          </a:xfrm>
          <a:prstGeom prst="rect">
            <a:avLst/>
          </a:prstGeom>
          <a:solidFill>
            <a:srgbClr val="1A2540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28032" y="25603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document.querySelectorAll("li")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53712" y="2990088"/>
            <a:ext cx="4407408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553712" y="2990088"/>
            <a:ext cx="128016" cy="877824"/>
          </a:xfrm>
          <a:prstGeom prst="rect">
            <a:avLst/>
          </a:prstGeom>
          <a:solidFill>
            <a:srgbClr val="117864"/>
          </a:solidFill>
          <a:ln w="12700">
            <a:solidFill>
              <a:srgbClr val="11786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54880" y="304495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7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getElementById()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754880" y="330098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Element by exact ID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54880" y="3520440"/>
            <a:ext cx="4069080" cy="237744"/>
          </a:xfrm>
          <a:prstGeom prst="rect">
            <a:avLst/>
          </a:prstGeom>
          <a:solidFill>
            <a:srgbClr val="1A2540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828032" y="352958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document.getElementById("myEl")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4553712" y="3959352"/>
            <a:ext cx="4407408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4553712" y="3959352"/>
            <a:ext cx="128016" cy="877824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754880" y="401421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34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getElementsByClassName()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4754880" y="427024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HTMLCollection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754880" y="4489704"/>
            <a:ext cx="4069080" cy="237744"/>
          </a:xfrm>
          <a:prstGeom prst="rect">
            <a:avLst/>
          </a:prstGeom>
          <a:solidFill>
            <a:srgbClr val="1A2540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828032" y="44988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document.getElementsByClassName("btn")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116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3.3–3.4 Manipulating Content, Style &amp; Elements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686800" y="4754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09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01168" y="1051560"/>
            <a:ext cx="4343400" cy="19385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01168" y="1051560"/>
            <a:ext cx="4343400" cy="31089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10896" y="105156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 &amp; HTML Content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92608" y="1435608"/>
            <a:ext cx="4160520" cy="1463040"/>
          </a:xfrm>
          <a:prstGeom prst="rect">
            <a:avLst/>
          </a:prstGeom>
          <a:solidFill>
            <a:srgbClr val="1A2540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1490472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h = document.querySelector('h1');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65760" y="1682496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h.textContent = 'Welcome!'; // safe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65760" y="1874520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65760" y="2066544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innerHTML (trusted content only)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65760" y="2258568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div.innerHTML = '&lt;b&gt;Bold&lt;/b&gt;';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65760" y="2450592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Never use with user input (XSS)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663440" y="1051560"/>
            <a:ext cx="4343400" cy="19385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63440" y="1051560"/>
            <a:ext cx="4343400" cy="31089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73168" y="105156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Changing Styles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54880" y="1435608"/>
            <a:ext cx="4160520" cy="1463040"/>
          </a:xfrm>
          <a:prstGeom prst="rect">
            <a:avLst/>
          </a:prstGeom>
          <a:solidFill>
            <a:srgbClr val="1A2540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28032" y="1490472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Inline styles (camelCase)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828032" y="1682496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box.style.backgroundColor = '#0D7377';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828032" y="1874520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box.style.borderRadius = '8px';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4828032" y="2066544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828032" y="2258568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classList (preferred)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4828032" y="2450592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box.classList.add('active');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4828032" y="2642616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box.classList.toggle('expanded');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201168" y="3017520"/>
            <a:ext cx="4343400" cy="19385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201168" y="3017520"/>
            <a:ext cx="4343400" cy="310896"/>
          </a:xfrm>
          <a:prstGeom prst="rect">
            <a:avLst/>
          </a:prstGeom>
          <a:solidFill>
            <a:srgbClr val="117864"/>
          </a:solidFill>
          <a:ln w="12700">
            <a:solidFill>
              <a:srgbClr val="11786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10896" y="301752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Attributes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292608" y="3401568"/>
            <a:ext cx="4160520" cy="1463040"/>
          </a:xfrm>
          <a:prstGeom prst="rect">
            <a:avLst/>
          </a:prstGeom>
          <a:solidFill>
            <a:srgbClr val="1A2540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65760" y="3456432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link.getAttribute('href');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65760" y="3648456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link.setAttribute('target','_blank');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365760" y="3840480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img.setAttribute('alt','Description');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365760" y="4032504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input.removeAttribute('disabled');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365760" y="4224528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365760" y="4416552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Boolean shorthand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365760" y="4608576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input.disabled = true;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663440" y="3017520"/>
            <a:ext cx="4343400" cy="19385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4663440" y="3017520"/>
            <a:ext cx="4343400" cy="310896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773168" y="301752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&amp; Remove Elements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4754880" y="3401568"/>
            <a:ext cx="4160520" cy="1463040"/>
          </a:xfrm>
          <a:prstGeom prst="rect">
            <a:avLst/>
          </a:prstGeom>
          <a:solidFill>
            <a:srgbClr val="1A2540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828032" y="3456432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li = document.createElement('li');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4828032" y="3648456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li.textContent = 'New item';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828032" y="3840480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li.classList.add('item');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4828032" y="4032504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list.appendChild(li);  // add last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4828032" y="4224528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list.prepend(li);      // add first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4828032" y="4416552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4828032" y="4608576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oldEl.remove(); // modern approach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116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3.5 Event Handling &amp; Delegation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686800" y="4754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01168" y="1051560"/>
            <a:ext cx="4389120" cy="3913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01168" y="1051560"/>
            <a:ext cx="4389120" cy="40233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1051560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addEventListener Syntax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92608" y="1536192"/>
            <a:ext cx="4206240" cy="3337560"/>
          </a:xfrm>
          <a:prstGeom prst="rect">
            <a:avLst/>
          </a:prstGeom>
          <a:solidFill>
            <a:srgbClr val="1A2540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4048" y="1591056"/>
            <a:ext cx="40416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btn = document.querySelector('#myBtn');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84048" y="1773936"/>
            <a:ext cx="40416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84048" y="1956816"/>
            <a:ext cx="40416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btn.addEventListener('click', (e) =&gt; {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84048" y="2139696"/>
            <a:ext cx="40416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e.target.textContent = 'Clicked!';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84048" y="2322576"/>
            <a:ext cx="40416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e.target.style.background = 'green';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84048" y="2505456"/>
            <a:ext cx="40416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84048" y="2688336"/>
            <a:ext cx="40416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84048" y="2871216"/>
            <a:ext cx="40416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Event Delegation (ONE listener for all)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84048" y="3054096"/>
            <a:ext cx="40416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list = document.querySelector('#list');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84048" y="3236976"/>
            <a:ext cx="40416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384048" y="3419856"/>
            <a:ext cx="40416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list.addEventListener('click', (e) =&gt; {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384048" y="3602736"/>
            <a:ext cx="40416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(e.target.tagName === 'LI') {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384048" y="3785616"/>
            <a:ext cx="40416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e.target.classList.toggle('done');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384048" y="3968496"/>
            <a:ext cx="40416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384048" y="4151376"/>
            <a:ext cx="40416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(e.target.matches('.del-btn')) {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384048" y="4334256"/>
            <a:ext cx="40416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e.target.closest('li').remove();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384048" y="4517136"/>
            <a:ext cx="40416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384048" y="4700016"/>
            <a:ext cx="40416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800600" y="1051560"/>
            <a:ext cx="4160520" cy="3913632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800600" y="1051560"/>
            <a:ext cx="4160520" cy="40233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937760" y="1051560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EVENT TYPES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937760" y="1572768"/>
            <a:ext cx="822960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937760" y="15727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MOUSE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5870448" y="1572768"/>
            <a:ext cx="987552" cy="256032"/>
          </a:xfrm>
          <a:prstGeom prst="rect">
            <a:avLst/>
          </a:prstGeom>
          <a:solidFill>
            <a:srgbClr val="1E2F4A"/>
          </a:solidFill>
          <a:ln w="12700">
            <a:solidFill>
              <a:srgbClr val="2C3E5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870448" y="157276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F0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6931152" y="1572768"/>
            <a:ext cx="987552" cy="256032"/>
          </a:xfrm>
          <a:prstGeom prst="rect">
            <a:avLst/>
          </a:prstGeom>
          <a:solidFill>
            <a:srgbClr val="1E2F4A"/>
          </a:solidFill>
          <a:ln w="12700">
            <a:solidFill>
              <a:srgbClr val="2C3E5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931152" y="157276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F0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dblclick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7991856" y="1572768"/>
            <a:ext cx="987552" cy="256032"/>
          </a:xfrm>
          <a:prstGeom prst="rect">
            <a:avLst/>
          </a:prstGeom>
          <a:solidFill>
            <a:srgbClr val="1E2F4A"/>
          </a:solidFill>
          <a:ln w="12700">
            <a:solidFill>
              <a:srgbClr val="2C3E5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991856" y="157276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F0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mouseenter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9052560" y="1572768"/>
            <a:ext cx="987552" cy="256032"/>
          </a:xfrm>
          <a:prstGeom prst="rect">
            <a:avLst/>
          </a:prstGeom>
          <a:solidFill>
            <a:srgbClr val="1E2F4A"/>
          </a:solidFill>
          <a:ln w="12700">
            <a:solidFill>
              <a:srgbClr val="2C3E5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052560" y="157276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F0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mouseleave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4956048" y="18836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E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Button clicks, nav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4937760" y="2432304"/>
            <a:ext cx="822960" cy="2560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937760" y="24323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KEYBOARD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5870448" y="2432304"/>
            <a:ext cx="987552" cy="256032"/>
          </a:xfrm>
          <a:prstGeom prst="rect">
            <a:avLst/>
          </a:prstGeom>
          <a:solidFill>
            <a:srgbClr val="1E2F4A"/>
          </a:solidFill>
          <a:ln w="12700">
            <a:solidFill>
              <a:srgbClr val="2C3E5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870448" y="2432304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F0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keydown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6931152" y="2432304"/>
            <a:ext cx="987552" cy="256032"/>
          </a:xfrm>
          <a:prstGeom prst="rect">
            <a:avLst/>
          </a:prstGeom>
          <a:solidFill>
            <a:srgbClr val="1E2F4A"/>
          </a:solidFill>
          <a:ln w="12700">
            <a:solidFill>
              <a:srgbClr val="2C3E5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931152" y="2432304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F0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keyup</a:t>
            </a:r>
            <a:endParaRPr lang="en-US" sz="750" dirty="0"/>
          </a:p>
        </p:txBody>
      </p:sp>
      <p:sp>
        <p:nvSpPr>
          <p:cNvPr id="49" name="Shape 46"/>
          <p:cNvSpPr/>
          <p:nvPr/>
        </p:nvSpPr>
        <p:spPr>
          <a:xfrm>
            <a:off x="7991856" y="2432304"/>
            <a:ext cx="987552" cy="256032"/>
          </a:xfrm>
          <a:prstGeom prst="rect">
            <a:avLst/>
          </a:prstGeom>
          <a:solidFill>
            <a:srgbClr val="1E2F4A"/>
          </a:solidFill>
          <a:ln w="12700">
            <a:solidFill>
              <a:srgbClr val="2C3E5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991856" y="2432304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F0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keypress (deprecated)</a:t>
            </a:r>
            <a:endParaRPr lang="en-US" sz="750" dirty="0"/>
          </a:p>
        </p:txBody>
      </p:sp>
      <p:sp>
        <p:nvSpPr>
          <p:cNvPr id="51" name="Text 48"/>
          <p:cNvSpPr/>
          <p:nvPr/>
        </p:nvSpPr>
        <p:spPr>
          <a:xfrm>
            <a:off x="4956048" y="27432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E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 shortcuts, search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4937760" y="3291840"/>
            <a:ext cx="822960" cy="256032"/>
          </a:xfrm>
          <a:prstGeom prst="rect">
            <a:avLst/>
          </a:prstGeom>
          <a:solidFill>
            <a:srgbClr val="117864"/>
          </a:solidFill>
          <a:ln w="12700">
            <a:solidFill>
              <a:srgbClr val="117864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937760" y="32918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5870448" y="3291840"/>
            <a:ext cx="987552" cy="256032"/>
          </a:xfrm>
          <a:prstGeom prst="rect">
            <a:avLst/>
          </a:prstGeom>
          <a:solidFill>
            <a:srgbClr val="1E2F4A"/>
          </a:solidFill>
          <a:ln w="12700">
            <a:solidFill>
              <a:srgbClr val="2C3E5A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870448" y="329184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F0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submit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6931152" y="3291840"/>
            <a:ext cx="987552" cy="256032"/>
          </a:xfrm>
          <a:prstGeom prst="rect">
            <a:avLst/>
          </a:prstGeom>
          <a:solidFill>
            <a:srgbClr val="1E2F4A"/>
          </a:solidFill>
          <a:ln w="12700">
            <a:solidFill>
              <a:srgbClr val="2C3E5A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931152" y="329184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F0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</a:t>
            </a:r>
            <a:endParaRPr lang="en-US" sz="750" dirty="0"/>
          </a:p>
        </p:txBody>
      </p:sp>
      <p:sp>
        <p:nvSpPr>
          <p:cNvPr id="58" name="Shape 55"/>
          <p:cNvSpPr/>
          <p:nvPr/>
        </p:nvSpPr>
        <p:spPr>
          <a:xfrm>
            <a:off x="7991856" y="3291840"/>
            <a:ext cx="987552" cy="256032"/>
          </a:xfrm>
          <a:prstGeom prst="rect">
            <a:avLst/>
          </a:prstGeom>
          <a:solidFill>
            <a:srgbClr val="1E2F4A"/>
          </a:solidFill>
          <a:ln w="12700">
            <a:solidFill>
              <a:srgbClr val="2C3E5A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7991856" y="329184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F0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750" dirty="0"/>
          </a:p>
        </p:txBody>
      </p:sp>
      <p:sp>
        <p:nvSpPr>
          <p:cNvPr id="60" name="Shape 57"/>
          <p:cNvSpPr/>
          <p:nvPr/>
        </p:nvSpPr>
        <p:spPr>
          <a:xfrm>
            <a:off x="9052560" y="3291840"/>
            <a:ext cx="987552" cy="256032"/>
          </a:xfrm>
          <a:prstGeom prst="rect">
            <a:avLst/>
          </a:prstGeom>
          <a:solidFill>
            <a:srgbClr val="1E2F4A"/>
          </a:solidFill>
          <a:ln w="12700">
            <a:solidFill>
              <a:srgbClr val="2C3E5A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9052560" y="329184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F0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focus / blur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4956048" y="36027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E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Validation, submit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4937760" y="4151376"/>
            <a:ext cx="822960" cy="2560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4937760" y="415137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WINDOW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5870448" y="4151376"/>
            <a:ext cx="987552" cy="256032"/>
          </a:xfrm>
          <a:prstGeom prst="rect">
            <a:avLst/>
          </a:prstGeom>
          <a:solidFill>
            <a:srgbClr val="1E2F4A"/>
          </a:solidFill>
          <a:ln w="12700">
            <a:solidFill>
              <a:srgbClr val="2C3E5A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5870448" y="415137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F0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</a:t>
            </a:r>
            <a:endParaRPr lang="en-US" sz="750" dirty="0"/>
          </a:p>
        </p:txBody>
      </p:sp>
      <p:sp>
        <p:nvSpPr>
          <p:cNvPr id="67" name="Shape 64"/>
          <p:cNvSpPr/>
          <p:nvPr/>
        </p:nvSpPr>
        <p:spPr>
          <a:xfrm>
            <a:off x="6931152" y="4151376"/>
            <a:ext cx="987552" cy="256032"/>
          </a:xfrm>
          <a:prstGeom prst="rect">
            <a:avLst/>
          </a:prstGeom>
          <a:solidFill>
            <a:srgbClr val="1E2F4A"/>
          </a:solidFill>
          <a:ln w="12700">
            <a:solidFill>
              <a:srgbClr val="2C3E5A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6931152" y="415137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F0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DOMContentLoaded</a:t>
            </a:r>
            <a:endParaRPr lang="en-US" sz="750" dirty="0"/>
          </a:p>
        </p:txBody>
      </p:sp>
      <p:sp>
        <p:nvSpPr>
          <p:cNvPr id="69" name="Shape 66"/>
          <p:cNvSpPr/>
          <p:nvPr/>
        </p:nvSpPr>
        <p:spPr>
          <a:xfrm>
            <a:off x="7991856" y="4151376"/>
            <a:ext cx="987552" cy="256032"/>
          </a:xfrm>
          <a:prstGeom prst="rect">
            <a:avLst/>
          </a:prstGeom>
          <a:solidFill>
            <a:srgbClr val="1E2F4A"/>
          </a:solidFill>
          <a:ln w="12700">
            <a:solidFill>
              <a:srgbClr val="2C3E5A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7991856" y="415137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F0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resize</a:t>
            </a:r>
            <a:endParaRPr lang="en-US" sz="750" dirty="0"/>
          </a:p>
        </p:txBody>
      </p:sp>
      <p:sp>
        <p:nvSpPr>
          <p:cNvPr id="71" name="Text 68"/>
          <p:cNvSpPr/>
          <p:nvPr/>
        </p:nvSpPr>
        <p:spPr>
          <a:xfrm>
            <a:off x="4956048" y="44622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BE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init, responsive</a:t>
            </a:r>
            <a:endParaRPr lang="en-US" sz="900" dirty="0"/>
          </a:p>
        </p:txBody>
      </p:sp>
      <p:sp>
        <p:nvSpPr>
          <p:cNvPr id="72" name="Shape 69"/>
          <p:cNvSpPr/>
          <p:nvPr/>
        </p:nvSpPr>
        <p:spPr>
          <a:xfrm>
            <a:off x="4937760" y="4718304"/>
            <a:ext cx="3840480" cy="201168"/>
          </a:xfrm>
          <a:prstGeom prst="rect">
            <a:avLst/>
          </a:prstGeom>
          <a:solidFill>
            <a:srgbClr val="1E2F4A"/>
          </a:solidFill>
          <a:ln w="12700">
            <a:solidFill>
              <a:srgbClr val="2C3E5A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5010912" y="47183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F0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e.preventDefault()  → stops default browser behavior (e.g. form submit)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116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Putting It All Together — To-Do App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686800" y="4754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01168" y="1051560"/>
            <a:ext cx="5029200" cy="4294632"/>
          </a:xfrm>
          <a:prstGeom prst="rect">
            <a:avLst/>
          </a:prstGeom>
          <a:solidFill>
            <a:srgbClr val="1A2540"/>
          </a:solidFill>
          <a:ln w="12700">
            <a:solidFill>
              <a:srgbClr val="0A0F1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10896" y="1115568"/>
            <a:ext cx="4828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todoApp = {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310896" y="1289304"/>
            <a:ext cx="4828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tasks: [],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10896" y="1463040"/>
            <a:ext cx="4828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10896" y="1636776"/>
            <a:ext cx="4828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addTask(text) {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10896" y="1810512"/>
            <a:ext cx="4828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task = { id: Date.now(),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10896" y="1984248"/>
            <a:ext cx="4828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text, done: false };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10896" y="2157984"/>
            <a:ext cx="4828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this.tasks.push(task);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10896" y="2331720"/>
            <a:ext cx="4828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this.render();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10896" y="2505456"/>
            <a:ext cx="4828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10896" y="2679192"/>
            <a:ext cx="4828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10896" y="2852928"/>
            <a:ext cx="4828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deleteTask(id) {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10896" y="3026664"/>
            <a:ext cx="4828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this.tasks = this.tasks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10896" y="3200400"/>
            <a:ext cx="4828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.filter(t =&gt; t.id !== id);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310896" y="3374136"/>
            <a:ext cx="4828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this.render();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310896" y="3547872"/>
            <a:ext cx="4828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310896" y="3721608"/>
            <a:ext cx="4828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310896" y="3895344"/>
            <a:ext cx="4828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render() {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310896" y="4069080"/>
            <a:ext cx="4828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taskList.innerHTML = '';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310896" y="4242816"/>
            <a:ext cx="4828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this.tasks.forEach(task =&gt; {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310896" y="4416552"/>
            <a:ext cx="4828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const li = document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310896" y="4590288"/>
            <a:ext cx="4828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.createElement('li');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310896" y="4764024"/>
            <a:ext cx="4828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li.textContent = task.text;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310896" y="4937760"/>
            <a:ext cx="4828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taskList.appendChild(li);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310896" y="5111496"/>
            <a:ext cx="4828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310896" y="5285232"/>
            <a:ext cx="4828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10896" y="5458968"/>
            <a:ext cx="4828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394960" y="1051560"/>
            <a:ext cx="3547872" cy="3913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5394960" y="1051560"/>
            <a:ext cx="3547872" cy="40233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532120" y="105156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CONCEPTS IN USE</a:t>
            </a:r>
            <a:endParaRPr lang="en-US" sz="1100" dirty="0"/>
          </a:p>
        </p:txBody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1591056"/>
            <a:ext cx="292608" cy="292608"/>
          </a:xfrm>
          <a:prstGeom prst="rect">
            <a:avLst/>
          </a:prstGeom>
        </p:spPr>
      </p:pic>
      <p:sp>
        <p:nvSpPr>
          <p:cNvPr id="38" name="Shape 34"/>
          <p:cNvSpPr/>
          <p:nvPr/>
        </p:nvSpPr>
        <p:spPr>
          <a:xfrm>
            <a:off x="5413248" y="1563624"/>
            <a:ext cx="347472" cy="347472"/>
          </a:xfrm>
          <a:prstGeom prst="ellipse">
            <a:avLst/>
          </a:prstGeom>
          <a:solidFill>
            <a:srgbClr val="0D7377">
              <a:alpha val="20000"/>
            </a:srgbClr>
          </a:solidFill>
          <a:ln w="12700">
            <a:solidFill>
              <a:srgbClr val="0D7377">
                <a:alpha val="40000"/>
              </a:srgbClr>
            </a:solidFill>
            <a:prstDash val="solid"/>
          </a:ln>
        </p:spPr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1591056"/>
            <a:ext cx="292608" cy="292608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5870448" y="1554480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Functions</a:t>
            </a:r>
            <a:endParaRPr lang="en-US" sz="1100" dirty="0"/>
          </a:p>
        </p:txBody>
      </p:sp>
      <p:sp>
        <p:nvSpPr>
          <p:cNvPr id="41" name="Text 36"/>
          <p:cNvSpPr/>
          <p:nvPr/>
        </p:nvSpPr>
        <p:spPr>
          <a:xfrm>
            <a:off x="5870448" y="1810512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Methods: addTask(),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deleteTask(), render()</a:t>
            </a:r>
            <a:endParaRPr lang="en-US" sz="900" dirty="0"/>
          </a:p>
        </p:txBody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2231136"/>
            <a:ext cx="292608" cy="292608"/>
          </a:xfrm>
          <a:prstGeom prst="rect">
            <a:avLst/>
          </a:prstGeom>
        </p:spPr>
      </p:pic>
      <p:sp>
        <p:nvSpPr>
          <p:cNvPr id="43" name="Shape 37"/>
          <p:cNvSpPr/>
          <p:nvPr/>
        </p:nvSpPr>
        <p:spPr>
          <a:xfrm>
            <a:off x="5413248" y="2203704"/>
            <a:ext cx="347472" cy="347472"/>
          </a:xfrm>
          <a:prstGeom prst="ellipse">
            <a:avLst/>
          </a:prstGeom>
          <a:solidFill>
            <a:srgbClr val="0D7377">
              <a:alpha val="20000"/>
            </a:srgbClr>
          </a:solidFill>
          <a:ln w="12700">
            <a:solidFill>
              <a:srgbClr val="0D7377">
                <a:alpha val="40000"/>
              </a:srgbClr>
            </a:solidFill>
            <a:prstDash val="solid"/>
          </a:ln>
        </p:spPr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2231136"/>
            <a:ext cx="292608" cy="292608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5870448" y="2194560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 &amp; Closure</a:t>
            </a:r>
            <a:endParaRPr lang="en-US" sz="1100" dirty="0"/>
          </a:p>
        </p:txBody>
      </p:sp>
      <p:sp>
        <p:nvSpPr>
          <p:cNvPr id="46" name="Text 39"/>
          <p:cNvSpPr/>
          <p:nvPr/>
        </p:nvSpPr>
        <p:spPr>
          <a:xfrm>
            <a:off x="5870448" y="2450592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todoApp object closes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 DOM references</a:t>
            </a:r>
            <a:endParaRPr lang="en-US" sz="900" dirty="0"/>
          </a:p>
        </p:txBody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871216"/>
            <a:ext cx="292608" cy="292608"/>
          </a:xfrm>
          <a:prstGeom prst="rect">
            <a:avLst/>
          </a:prstGeom>
        </p:spPr>
      </p:pic>
      <p:sp>
        <p:nvSpPr>
          <p:cNvPr id="48" name="Shape 40"/>
          <p:cNvSpPr/>
          <p:nvPr/>
        </p:nvSpPr>
        <p:spPr>
          <a:xfrm>
            <a:off x="5413248" y="2843784"/>
            <a:ext cx="347472" cy="347472"/>
          </a:xfrm>
          <a:prstGeom prst="ellipse">
            <a:avLst/>
          </a:prstGeom>
          <a:solidFill>
            <a:srgbClr val="0D7377">
              <a:alpha val="20000"/>
            </a:srgbClr>
          </a:solidFill>
          <a:ln w="12700">
            <a:solidFill>
              <a:srgbClr val="0D7377">
                <a:alpha val="40000"/>
              </a:srgbClr>
            </a:solidFill>
            <a:prstDash val="solid"/>
          </a:ln>
        </p:spPr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871216"/>
            <a:ext cx="292608" cy="292608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5870448" y="2834640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Objects</a:t>
            </a:r>
            <a:endParaRPr lang="en-US" sz="1100" dirty="0"/>
          </a:p>
        </p:txBody>
      </p:sp>
      <p:sp>
        <p:nvSpPr>
          <p:cNvPr id="51" name="Text 42"/>
          <p:cNvSpPr/>
          <p:nvPr/>
        </p:nvSpPr>
        <p:spPr>
          <a:xfrm>
            <a:off x="5870448" y="3090672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todoApp with tasks array,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id/text/done properties</a:t>
            </a:r>
            <a:endParaRPr lang="en-US" sz="900" dirty="0"/>
          </a:p>
        </p:txBody>
      </p:sp>
      <p:pic>
        <p:nvPicPr>
          <p:cNvPr id="52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0680" y="3511296"/>
            <a:ext cx="292608" cy="292608"/>
          </a:xfrm>
          <a:prstGeom prst="rect">
            <a:avLst/>
          </a:prstGeom>
        </p:spPr>
      </p:pic>
      <p:sp>
        <p:nvSpPr>
          <p:cNvPr id="53" name="Shape 43"/>
          <p:cNvSpPr/>
          <p:nvPr/>
        </p:nvSpPr>
        <p:spPr>
          <a:xfrm>
            <a:off x="5413248" y="3483864"/>
            <a:ext cx="347472" cy="347472"/>
          </a:xfrm>
          <a:prstGeom prst="ellipse">
            <a:avLst/>
          </a:prstGeom>
          <a:solidFill>
            <a:srgbClr val="0D7377">
              <a:alpha val="20000"/>
            </a:srgbClr>
          </a:solidFill>
          <a:ln w="12700">
            <a:solidFill>
              <a:srgbClr val="0D7377">
                <a:alpha val="40000"/>
              </a:srgbClr>
            </a:solidFill>
            <a:prstDash val="solid"/>
          </a:ln>
        </p:spPr>
      </p:sp>
      <p:pic>
        <p:nvPicPr>
          <p:cNvPr id="54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0680" y="3511296"/>
            <a:ext cx="292608" cy="292608"/>
          </a:xfrm>
          <a:prstGeom prst="rect">
            <a:avLst/>
          </a:prstGeom>
        </p:spPr>
      </p:pic>
      <p:sp>
        <p:nvSpPr>
          <p:cNvPr id="55" name="Text 44"/>
          <p:cNvSpPr/>
          <p:nvPr/>
        </p:nvSpPr>
        <p:spPr>
          <a:xfrm>
            <a:off x="5870448" y="3474720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 Manipulation</a:t>
            </a:r>
            <a:endParaRPr lang="en-US" sz="1100" dirty="0"/>
          </a:p>
        </p:txBody>
      </p:sp>
      <p:sp>
        <p:nvSpPr>
          <p:cNvPr id="56" name="Text 45"/>
          <p:cNvSpPr/>
          <p:nvPr/>
        </p:nvSpPr>
        <p:spPr>
          <a:xfrm>
            <a:off x="5870448" y="3730752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createElement(), appendChild()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textContent, classList</a:t>
            </a:r>
            <a:endParaRPr lang="en-US" sz="900" dirty="0"/>
          </a:p>
        </p:txBody>
      </p:sp>
      <p:pic>
        <p:nvPicPr>
          <p:cNvPr id="57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40680" y="4151376"/>
            <a:ext cx="292608" cy="292608"/>
          </a:xfrm>
          <a:prstGeom prst="rect">
            <a:avLst/>
          </a:prstGeom>
        </p:spPr>
      </p:pic>
      <p:sp>
        <p:nvSpPr>
          <p:cNvPr id="58" name="Shape 46"/>
          <p:cNvSpPr/>
          <p:nvPr/>
        </p:nvSpPr>
        <p:spPr>
          <a:xfrm>
            <a:off x="5413248" y="4123944"/>
            <a:ext cx="347472" cy="347472"/>
          </a:xfrm>
          <a:prstGeom prst="ellipse">
            <a:avLst/>
          </a:prstGeom>
          <a:solidFill>
            <a:srgbClr val="0D7377">
              <a:alpha val="20000"/>
            </a:srgbClr>
          </a:solidFill>
          <a:ln w="12700">
            <a:solidFill>
              <a:srgbClr val="0D7377">
                <a:alpha val="40000"/>
              </a:srgbClr>
            </a:solidFill>
            <a:prstDash val="solid"/>
          </a:ln>
        </p:spPr>
      </p:sp>
      <p:pic>
        <p:nvPicPr>
          <p:cNvPr id="59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40680" y="4151376"/>
            <a:ext cx="292608" cy="292608"/>
          </a:xfrm>
          <a:prstGeom prst="rect">
            <a:avLst/>
          </a:prstGeom>
        </p:spPr>
      </p:pic>
      <p:sp>
        <p:nvSpPr>
          <p:cNvPr id="60" name="Text 47"/>
          <p:cNvSpPr/>
          <p:nvPr/>
        </p:nvSpPr>
        <p:spPr>
          <a:xfrm>
            <a:off x="5870448" y="4114800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 Delegation</a:t>
            </a:r>
            <a:endParaRPr lang="en-US" sz="1100" dirty="0"/>
          </a:p>
        </p:txBody>
      </p:sp>
      <p:sp>
        <p:nvSpPr>
          <p:cNvPr id="61" name="Text 48"/>
          <p:cNvSpPr/>
          <p:nvPr/>
        </p:nvSpPr>
        <p:spPr>
          <a:xfrm>
            <a:off x="5870448" y="4370832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listener on taskList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handles all list clicks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&amp; Quick Reference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41248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24128"/>
            <a:ext cx="4160520" cy="822960"/>
          </a:xfrm>
          <a:prstGeom prst="rect">
            <a:avLst/>
          </a:prstGeom>
          <a:solidFill>
            <a:srgbClr val="0D1929"/>
          </a:solidFill>
          <a:ln w="12700">
            <a:solidFill>
              <a:srgbClr val="1E2F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24128"/>
            <a:ext cx="128016" cy="82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795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87552" y="1078992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 Declaration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87552" y="1353312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Hoisted. Use function name() {}. Callable before definition.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54880" y="1024128"/>
            <a:ext cx="4160520" cy="822960"/>
          </a:xfrm>
          <a:prstGeom prst="rect">
            <a:avLst/>
          </a:prstGeom>
          <a:solidFill>
            <a:srgbClr val="0D1929"/>
          </a:solidFill>
          <a:ln w="12700">
            <a:solidFill>
              <a:srgbClr val="1E2F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54880" y="1024128"/>
            <a:ext cx="128016" cy="8229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1179576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76672" y="1078992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 Expression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376672" y="1353312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hoisted. const fn = function() {}. Stored as value.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65760" y="1993392"/>
            <a:ext cx="4160520" cy="822960"/>
          </a:xfrm>
          <a:prstGeom prst="rect">
            <a:avLst/>
          </a:prstGeom>
          <a:solidFill>
            <a:srgbClr val="0D1929"/>
          </a:solidFill>
          <a:ln w="12700">
            <a:solidFill>
              <a:srgbClr val="1E2F4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65760" y="1993392"/>
            <a:ext cx="128016" cy="822960"/>
          </a:xfrm>
          <a:prstGeom prst="rect">
            <a:avLst/>
          </a:prstGeom>
          <a:solidFill>
            <a:srgbClr val="117864"/>
          </a:solidFill>
          <a:ln w="12700">
            <a:solidFill>
              <a:srgbClr val="117864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48840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87552" y="204825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7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Arrow Function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987552" y="2322576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Concise. const fn = (x) =&gt; x*2. No own 'this' binding.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754880" y="1993392"/>
            <a:ext cx="4160520" cy="822960"/>
          </a:xfrm>
          <a:prstGeom prst="rect">
            <a:avLst/>
          </a:prstGeom>
          <a:solidFill>
            <a:srgbClr val="0D1929"/>
          </a:solidFill>
          <a:ln w="12700">
            <a:solidFill>
              <a:srgbClr val="1E2F4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754880" y="1993392"/>
            <a:ext cx="128016" cy="82296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2148840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76672" y="204825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34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 &amp; Closures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376672" y="2322576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→ Function → Block. Closures: inner fn retains outer vars.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65760" y="2962656"/>
            <a:ext cx="4160520" cy="822960"/>
          </a:xfrm>
          <a:prstGeom prst="rect">
            <a:avLst/>
          </a:prstGeom>
          <a:solidFill>
            <a:srgbClr val="0D1929"/>
          </a:solidFill>
          <a:ln w="12700">
            <a:solidFill>
              <a:srgbClr val="1E2F4A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65760" y="2962656"/>
            <a:ext cx="128016" cy="8229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118104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87552" y="301752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Objects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987552" y="3291840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Key-value pairs. Object literals, Constructors, ES6 Classes.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4754880" y="2962656"/>
            <a:ext cx="4160520" cy="822960"/>
          </a:xfrm>
          <a:prstGeom prst="rect">
            <a:avLst/>
          </a:prstGeom>
          <a:solidFill>
            <a:srgbClr val="0D1929"/>
          </a:solidFill>
          <a:ln w="12700">
            <a:solidFill>
              <a:srgbClr val="1E2F4A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754880" y="2962656"/>
            <a:ext cx="128016" cy="82296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3118104"/>
            <a:ext cx="329184" cy="32918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376672" y="301752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80B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Destructuring/Spread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376672" y="3291840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 {a,b} = obj; Spread: {...obj, newProp: val}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365760" y="3931920"/>
            <a:ext cx="4160520" cy="822960"/>
          </a:xfrm>
          <a:prstGeom prst="rect">
            <a:avLst/>
          </a:prstGeom>
          <a:solidFill>
            <a:srgbClr val="0D1929"/>
          </a:solidFill>
          <a:ln w="12700">
            <a:solidFill>
              <a:srgbClr val="1E2F4A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365760" y="3931920"/>
            <a:ext cx="128016" cy="822960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4087368"/>
            <a:ext cx="329184" cy="32918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987552" y="3986784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66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 Selection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987552" y="4261104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querySelector('.cls') | querySelectorAll('li'). Use CSS selectors.</a:t>
            </a:r>
            <a:endParaRPr lang="en-US" sz="950" dirty="0"/>
          </a:p>
        </p:txBody>
      </p:sp>
      <p:sp>
        <p:nvSpPr>
          <p:cNvPr id="40" name="Shape 31"/>
          <p:cNvSpPr/>
          <p:nvPr/>
        </p:nvSpPr>
        <p:spPr>
          <a:xfrm>
            <a:off x="4754880" y="3931920"/>
            <a:ext cx="4160520" cy="822960"/>
          </a:xfrm>
          <a:prstGeom prst="rect">
            <a:avLst/>
          </a:prstGeom>
          <a:solidFill>
            <a:srgbClr val="0D1929"/>
          </a:solidFill>
          <a:ln w="12700">
            <a:solidFill>
              <a:srgbClr val="1E2F4A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4754880" y="3931920"/>
            <a:ext cx="128016" cy="82296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6048" y="4087368"/>
            <a:ext cx="329184" cy="329184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5376672" y="3986784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D3C9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Events &amp; Delegation</a:t>
            </a:r>
            <a:endParaRPr lang="en-US" sz="1100" dirty="0"/>
          </a:p>
        </p:txBody>
      </p:sp>
      <p:sp>
        <p:nvSpPr>
          <p:cNvPr id="44" name="Text 34"/>
          <p:cNvSpPr/>
          <p:nvPr/>
        </p:nvSpPr>
        <p:spPr>
          <a:xfrm>
            <a:off x="5376672" y="4261104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addEventListener(). Delegate to parent for dynamic content.</a:t>
            </a:r>
            <a:endParaRPr lang="en-US" sz="950" dirty="0"/>
          </a:p>
        </p:txBody>
      </p:sp>
      <p:sp>
        <p:nvSpPr>
          <p:cNvPr id="45" name="Shape 35"/>
          <p:cNvSpPr/>
          <p:nvPr/>
        </p:nvSpPr>
        <p:spPr>
          <a:xfrm>
            <a:off x="365760" y="4700016"/>
            <a:ext cx="8412480" cy="347472"/>
          </a:xfrm>
          <a:prstGeom prst="rect">
            <a:avLst/>
          </a:prstGeom>
          <a:solidFill>
            <a:srgbClr val="0D7377">
              <a:alpha val="85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502920" y="470001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  Master closures and event delegation — they are patterns you will use in every real-world JavaScript project.</a:t>
            </a:r>
            <a:endParaRPr lang="en-US" sz="1000" dirty="0"/>
          </a:p>
        </p:txBody>
      </p:sp>
      <p:sp>
        <p:nvSpPr>
          <p:cNvPr id="47" name="Text 37"/>
          <p:cNvSpPr/>
          <p:nvPr/>
        </p:nvSpPr>
        <p:spPr>
          <a:xfrm>
            <a:off x="8686800" y="4754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682</TotalTime>
  <Words>1788</Words>
  <Application>Microsoft Office PowerPoint</Application>
  <PresentationFormat>On-screen Show (16:9)</PresentationFormat>
  <Paragraphs>359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Consolas</vt:lpstr>
      <vt:lpstr>Georgia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JavaScript: Functions, Scope, Objects &amp; DOM</dc:title>
  <dc:subject>PptxGenJS Presentation</dc:subject>
  <dc:creator>PptxGenJS</dc:creator>
  <cp:lastModifiedBy>Venkatgiri Ganesh T</cp:lastModifiedBy>
  <cp:revision>4</cp:revision>
  <dcterms:created xsi:type="dcterms:W3CDTF">2026-02-13T09:17:56Z</dcterms:created>
  <dcterms:modified xsi:type="dcterms:W3CDTF">2026-02-20T08:00:38Z</dcterms:modified>
</cp:coreProperties>
</file>
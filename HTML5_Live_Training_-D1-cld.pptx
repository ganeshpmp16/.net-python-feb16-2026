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60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7315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023360" y="1005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23360" y="14630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02336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Live Training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0" y="3474720"/>
            <a:ext cx="4023360" cy="274320"/>
          </a:xfrm>
          <a:prstGeom prst="rect">
            <a:avLst/>
          </a:prstGeom>
          <a:solidFill>
            <a:srgbClr val="1A2C42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3502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Getting Started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3822192"/>
            <a:ext cx="4023360" cy="274320"/>
          </a:xfrm>
          <a:prstGeom prst="rect">
            <a:avLst/>
          </a:prstGeom>
          <a:solidFill>
            <a:srgbClr val="1A2C42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3849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Elements &amp; Attributes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23360" y="4169664"/>
            <a:ext cx="4023360" cy="274320"/>
          </a:xfrm>
          <a:prstGeom prst="rect">
            <a:avLst/>
          </a:prstGeom>
          <a:solidFill>
            <a:srgbClr val="1A2C42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41970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4517136"/>
            <a:ext cx="4023360" cy="274320"/>
          </a:xfrm>
          <a:prstGeom prst="rect">
            <a:avLst/>
          </a:prstGeom>
          <a:solidFill>
            <a:srgbClr val="1A2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4544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Lists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38404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877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117043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HTML is and how the web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9105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91056"/>
            <a:ext cx="384048" cy="6583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9105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9264" y="1664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" y="195681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html, head, body tags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38404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9264" y="2450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&amp; Attributes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264" y="27432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attributes, semantic markup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63824"/>
            <a:ext cx="384048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638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9264" y="3236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" y="35295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header cells, data cells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0208"/>
            <a:ext cx="384048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5020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264" y="4023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43159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unordered &amp; nested lists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Introduction &amp; Webpage Structure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4688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24688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527048" y="1005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2704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68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50592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is on the page — headings, paragraphs, images, tables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777240"/>
            <a:ext cx="24688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77240"/>
            <a:ext cx="24688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0248" y="100584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7024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8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450592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things look — colours, fonts, layout and spacing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46888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77240"/>
            <a:ext cx="246888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1005840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013448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68" dirty="0"/>
          </a:p>
        </p:txBody>
      </p:sp>
      <p:sp>
        <p:nvSpPr>
          <p:cNvPr id="22" name="Text 20"/>
          <p:cNvSpPr/>
          <p:nvPr/>
        </p:nvSpPr>
        <p:spPr>
          <a:xfrm>
            <a:off x="603504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2450592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things work — buttons, animations, dynamic content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70001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 house — HTML = walls, CSS = paint, JavaScript = electricity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Browser Renders HTML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" y="86868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868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4" dirty="0"/>
          </a:p>
        </p:txBody>
      </p:sp>
      <p:sp>
        <p:nvSpPr>
          <p:cNvPr id="6" name="Shape 4"/>
          <p:cNvSpPr/>
          <p:nvPr/>
        </p:nvSpPr>
        <p:spPr>
          <a:xfrm>
            <a:off x="1536192" y="1179576"/>
            <a:ext cx="5120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384048" y="1664208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64208"/>
            <a:ext cx="64008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URL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www.example.com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87752" y="868680"/>
            <a:ext cx="621792" cy="6217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868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4" dirty="0"/>
          </a:p>
        </p:txBody>
      </p:sp>
      <p:sp>
        <p:nvSpPr>
          <p:cNvPr id="13" name="Shape 11"/>
          <p:cNvSpPr/>
          <p:nvPr/>
        </p:nvSpPr>
        <p:spPr>
          <a:xfrm>
            <a:off x="3236976" y="1179576"/>
            <a:ext cx="5120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2084832" y="1664208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1664208"/>
            <a:ext cx="64008" cy="2560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2231136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31136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request to server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88536" y="868680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288536" y="868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4" dirty="0"/>
          </a:p>
        </p:txBody>
      </p:sp>
      <p:sp>
        <p:nvSpPr>
          <p:cNvPr id="20" name="Shape 18"/>
          <p:cNvSpPr/>
          <p:nvPr/>
        </p:nvSpPr>
        <p:spPr>
          <a:xfrm>
            <a:off x="4937760" y="1179576"/>
            <a:ext cx="5120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3785616" y="1664208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85616" y="1664208"/>
            <a:ext cx="64008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HTML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.html file is sent back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868680"/>
            <a:ext cx="621792" cy="6217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868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4" dirty="0"/>
          </a:p>
        </p:txBody>
      </p:sp>
      <p:sp>
        <p:nvSpPr>
          <p:cNvPr id="27" name="Shape 25"/>
          <p:cNvSpPr/>
          <p:nvPr/>
        </p:nvSpPr>
        <p:spPr>
          <a:xfrm>
            <a:off x="6638544" y="1179576"/>
            <a:ext cx="5120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5486400" y="1664208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664208"/>
            <a:ext cx="64008" cy="2560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5632704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Parses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32704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tags top to bottom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90104" y="868680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690104" y="868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4" dirty="0"/>
          </a:p>
        </p:txBody>
      </p:sp>
      <p:sp>
        <p:nvSpPr>
          <p:cNvPr id="34" name="Shape 32"/>
          <p:cNvSpPr/>
          <p:nvPr/>
        </p:nvSpPr>
        <p:spPr>
          <a:xfrm>
            <a:off x="7187184" y="1664208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87184" y="1664208"/>
            <a:ext cx="64008" cy="2560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733348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Displayed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33488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result!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  ·  html  ·  head  ·  body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HTML5 Boilerplate — Start Every File Here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4480560" cy="4224528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420624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&lt;title&gt;My Page&lt;/title&gt;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 World!&lt;/h1&gt;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&lt;p&gt;My first webpage.&lt;/p&gt;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713232"/>
            <a:ext cx="3639312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713232"/>
            <a:ext cx="54864" cy="6949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266944" y="777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66944" y="1078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HTML5. Always line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536192"/>
            <a:ext cx="3639312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536192"/>
            <a:ext cx="54864" cy="6949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5266944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66944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element. Sets language.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359152"/>
            <a:ext cx="3639312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2359152"/>
            <a:ext cx="54864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266944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66944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— invisible to user.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182112"/>
            <a:ext cx="3639312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3182112"/>
            <a:ext cx="54864" cy="69494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5266944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charset&gt;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66944" y="3547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all characters correctly.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4005072"/>
            <a:ext cx="3639312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4005072"/>
            <a:ext cx="54864" cy="6949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266944" y="4069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66944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content goes here.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vs BODY — What Goes Where?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402336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4023360" cy="4206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2648" y="1353312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 — browser tab 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" y="1920240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charset&gt; — character encoding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" y="2487168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viewport&gt; — mobile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" y="3054096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 — connect to CSS file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" y="3621024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— connect to JS 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425696"/>
            <a:ext cx="4023360" cy="512064"/>
          </a:xfrm>
          <a:prstGeom prst="rect">
            <a:avLst/>
          </a:prstGeom>
          <a:solidFill>
            <a:srgbClr val="0369A1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4256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visible to the user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749808"/>
            <a:ext cx="402336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49808"/>
            <a:ext cx="4023360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7498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956048" y="135331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&lt;h1&gt;–&lt;h6&gt; — headings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56048" y="192024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— paragraphs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56048" y="24871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— images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56048" y="305409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230368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— tables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56048" y="362102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368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/ &lt;ol&gt; — lists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425696"/>
            <a:ext cx="4023360" cy="512064"/>
          </a:xfrm>
          <a:prstGeom prst="rect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4256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user can see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&amp; Attributes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 ·  Attributes  ·  Semantic Markup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HTML Element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40080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87782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0" y="877824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paragraph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0" y="87782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1865376"/>
            <a:ext cx="0" cy="256032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865376"/>
            <a:ext cx="0" cy="2560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865376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578608"/>
            <a:ext cx="6400800" cy="347472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26151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Some elements are self-closing — they have NO content and NO closing tag:  &lt;br&gt;   &lt;img&gt;   &lt;input&gt;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" y="31729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&lt;h1&gt;–&lt;h6&gt;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38528" y="31729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(biggest to smallest)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090672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91456" y="31729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31729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of text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94176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" y="37764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38528" y="3776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 / anchor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694176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91456" y="37764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4768" y="3776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(self-closing)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" y="43799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&lt;strong&gt;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38528" y="43799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/ important text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429768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91456" y="43799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&lt;em&gt;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43799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/ emphasis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Attributes — Adding Extra Information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86384"/>
            <a:ext cx="7863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&lt;element  attribute="value"&gt;  Content  &lt;/element&gt;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81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destination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837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href="about.html"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481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for images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837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src="photo.jpg"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54864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description (SEO)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2843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alt="Company Logo"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423160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9788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 name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2843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id="hero-section"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29000"/>
            <a:ext cx="54864" cy="8046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493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for shared style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class="card"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429000"/>
            <a:ext cx="54864" cy="8046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3493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9788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link in new tab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— Code That Means Something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384048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49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Semantic 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840480" cy="306324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07008"/>
            <a:ext cx="3566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class="header"&gt;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class="nav"&gt;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&lt;div&gt;Home&lt;/div&gt;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&lt;div&gt;About&lt;/div&gt;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class="content"&gt;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&lt;div&gt;Blog post&lt;/div&gt;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class="footer"&gt;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&lt;div&gt;Copyright&lt;/div&gt;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749808"/>
            <a:ext cx="384048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749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Semantic 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840480" cy="306324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207008"/>
            <a:ext cx="3566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&lt;a&gt;Home&lt;/a&gt;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&lt;a&gt;About&lt;/a&gt;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&lt;article&gt;Blog post&lt;/article&gt;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&lt;p&gt;Copyright&lt;/p&gt;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&lt;/footer&gt;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306824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4306824"/>
            <a:ext cx="19202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87752" y="4306824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87752" y="4306824"/>
            <a:ext cx="192024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64024" y="4306824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64024" y="4306824"/>
            <a:ext cx="19202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764024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Maintain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0296" y="4306824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0296" y="4306824"/>
            <a:ext cx="19202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296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Code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Tables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 ·  Header Cells  ·  Data Cells  ·  colspan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Tags That Build Every Table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86384"/>
            <a:ext cx="54864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859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6072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container for the whole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28800"/>
            <a:ext cx="54864" cy="8778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607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header rows  (column titles)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871216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871216"/>
            <a:ext cx="54864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body rows  (data content)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913632"/>
            <a:ext cx="54864" cy="87782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986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76072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footer rows  (totals / summaries)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786384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86384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859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28032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— one horizontal row of cells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28800"/>
            <a:ext cx="54864" cy="8778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2803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Cell — bold &amp; centred by default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871216"/>
            <a:ext cx="391363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71216"/>
            <a:ext cx="54864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828032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Cell — regular content cell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Example — Student Marks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4663440" cy="4224528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41248"/>
            <a:ext cx="438912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&lt;th&gt;ID&lt;/th&gt;  &lt;th&gt;Name&lt;/th&gt;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&lt;th&gt;Marks&lt;/th&gt;  &lt;th&gt;Grade&lt;/th&gt;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&lt;td&gt;001&lt;/td&gt;  &lt;td&gt;Alice&lt;/td&gt;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&lt;td&gt;92&lt;/td&gt;   &lt;td&gt;A&lt;/td&gt;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&lt;td&gt;002&lt;/td&gt;  &lt;td&gt;Bob&lt;/td&gt;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&lt;td&gt;85&lt;/td&gt;   &lt;td&gt;B+&lt;/td&gt;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&lt;td&gt;003&lt;/td&gt;  &lt;td&gt;Charlie&lt;/td&gt;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&lt;td&gt;78&lt;/td&gt;   &lt;td&gt;B&lt;/td&gt;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0" y="786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115568"/>
            <a:ext cx="342900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1155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33872" y="111556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76288" y="11155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11155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481328"/>
            <a:ext cx="3429000" cy="31089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1792224"/>
            <a:ext cx="3429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48132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33872" y="148132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76288" y="14813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14813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1792224"/>
            <a:ext cx="3429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0" y="2103120"/>
            <a:ext cx="3429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7922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33872" y="179222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179222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17922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2103120"/>
            <a:ext cx="3429000" cy="31089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0" y="2414016"/>
            <a:ext cx="3429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10312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21031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76288" y="210312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2103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1115568"/>
            <a:ext cx="3429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414016"/>
            <a:ext cx="3429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3291840"/>
            <a:ext cx="3429000" cy="157276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40680" y="3383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tip: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 colspan="2"&gt;Merged&lt;/td&gt;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97764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2 columns horizontally.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rowspan to merge rows.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&amp; Unordered Lists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  ·  Numbered lists  ·  Nested lists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List — When to Use Each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02336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7680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DOESN'T matter  →  &lt;ul&gt;       |       Order DOES matter  →  &lt;ol&gt;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005072" cy="363931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4005072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 Unordered List  •  bullets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356616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18470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288950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52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310896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918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54787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511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" y="37673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7307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features, ingredients, options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27448" y="1261872"/>
            <a:ext cx="4005072" cy="363931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1261872"/>
            <a:ext cx="4005072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12618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 Ordered List  1 2 3  numbers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737360"/>
            <a:ext cx="356616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8470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&lt;li&gt;Plan&lt;/li&gt;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&lt;li&gt;Code HTML&lt;/li&gt;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&lt;li&gt;Add CSS&lt;/li&gt;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10328" y="2852928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16" dirty="0"/>
          </a:p>
        </p:txBody>
      </p:sp>
      <p:sp>
        <p:nvSpPr>
          <p:cNvPr id="29" name="Text 27"/>
          <p:cNvSpPr/>
          <p:nvPr/>
        </p:nvSpPr>
        <p:spPr>
          <a:xfrm>
            <a:off x="5193792" y="2852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website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10328" y="3072384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16" dirty="0"/>
          </a:p>
        </p:txBody>
      </p:sp>
      <p:sp>
        <p:nvSpPr>
          <p:cNvPr id="32" name="Text 30"/>
          <p:cNvSpPr/>
          <p:nvPr/>
        </p:nvSpPr>
        <p:spPr>
          <a:xfrm>
            <a:off x="5193792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HTML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10328" y="3291840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910328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16" dirty="0"/>
          </a:p>
        </p:txBody>
      </p:sp>
      <p:sp>
        <p:nvSpPr>
          <p:cNvPr id="35" name="Text 33"/>
          <p:cNvSpPr/>
          <p:nvPr/>
        </p:nvSpPr>
        <p:spPr>
          <a:xfrm>
            <a:off x="5193792" y="32918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CSS styling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10328" y="3511296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16" dirty="0"/>
          </a:p>
        </p:txBody>
      </p:sp>
      <p:sp>
        <p:nvSpPr>
          <p:cNvPr id="38" name="Text 36"/>
          <p:cNvSpPr/>
          <p:nvPr/>
        </p:nvSpPr>
        <p:spPr>
          <a:xfrm>
            <a:off x="5193792" y="3511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JavaScript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10328" y="373075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4910328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16" dirty="0"/>
          </a:p>
        </p:txBody>
      </p:sp>
      <p:sp>
        <p:nvSpPr>
          <p:cNvPr id="41" name="Text 39"/>
          <p:cNvSpPr/>
          <p:nvPr/>
        </p:nvSpPr>
        <p:spPr>
          <a:xfrm>
            <a:off x="5193792" y="37307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steps, instructions, rankings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 — Lists Inside Lists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475488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59536"/>
            <a:ext cx="448056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 Basics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&lt;li&gt;Document structure&lt;/li&gt;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&lt;li&gt;Elements &amp;amp; attributes&lt;/li&gt;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&lt;li&gt;Semantic tags&lt;/li&gt;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 Fundamentals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&lt;li&gt;Selectors&lt;/li&gt;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&lt;li&gt;Box model&lt;/li&gt;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&lt;li&gt;Variables&lt;/li&gt;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&lt;li&gt;Functions&lt;/li&gt;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40680" y="822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40680" y="11704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HTML Basics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1517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Document 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18653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Elements &amp; attributes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2212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Semantic tags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2560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CSS Fundamentals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Selectors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32552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Box 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40680" y="36027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JavaScript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39502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Variables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06440" y="4297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Functions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40680" y="4645152"/>
            <a:ext cx="3383280" cy="329184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Put &lt;ul&gt; or &lt;ol&gt; inside a &lt;li&gt; to create sub-items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Full HTML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1778" y="606318"/>
            <a:ext cx="8570742" cy="4537182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3789" y="639377"/>
            <a:ext cx="80467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&lt;title&gt;Practice Page&lt;/title&gt;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&lt;header&gt;&lt;h1&gt;My Training Page&lt;/h1&gt;&lt;/header&gt;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&lt;h2&gt;Students&lt;/h2&gt;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&lt;table border="1"&gt;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&lt;thead&gt;&lt;tr&gt;&lt;th&gt;Name&lt;/th&gt;&lt;th&gt;Grade&lt;/th&gt;&lt;/tr&gt;&lt;/thead&gt;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&lt;tr&gt;&lt;td&gt;Alice&lt;/td&gt;&lt;td&gt;A&lt;/td&gt;&lt;/tr&gt;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&lt;tr&gt;&lt;td&gt;Bob&lt;/td&gt;&lt;td&gt;B+&lt;/td&gt;&lt;/tr&gt;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&lt;/table&gt;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&lt;h2&gt;Technologies&lt;/h2&gt;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&lt;ul&gt;&lt;li&gt;HTML&lt;/li&gt;&lt;li&gt;CSS&lt;/li&gt;&lt;li&gt;JS&lt;/li&gt;&lt;/ul&gt;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&lt;h2&gt;Steps&lt;/h2&gt;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&lt;ol&gt;&lt;li&gt;Plan&lt;/li&gt;&lt;li&gt;Code&lt;/li&gt;&lt;li&gt;Test&lt;/li&gt;&lt;/ol&gt;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&lt;footer&gt;&lt;p&gt;Copyright 2025&lt;/p&gt;&lt;/footer&gt;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Tags Covered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55448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15544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85616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&lt;meta&gt;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93976" y="749808"/>
            <a:ext cx="155448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93976" y="749808"/>
            <a:ext cx="15544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093976" y="749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85416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85416" y="1664208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85416" y="2194560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85416" y="2267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85416" y="2724912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85416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85416" y="3255264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5416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85416" y="3785616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76472" y="749808"/>
            <a:ext cx="155448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76472" y="749808"/>
            <a:ext cx="15544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776472" y="749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867912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&lt;h1&gt;–&lt;h6&gt;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67912" y="1664208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67912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67912" y="2194560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67912" y="2267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&lt;strong&gt;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867912" y="2724912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&lt;em&gt;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67912" y="3255264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67912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67912" y="3785616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67912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58968" y="749808"/>
            <a:ext cx="155448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58968" y="749808"/>
            <a:ext cx="155448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5458968" y="749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550408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50408" y="1664208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040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&lt;thead&gt;&lt;tbody&gt;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50408" y="2194560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0408" y="2267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550408" y="2724912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50408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50408" y="3255264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50408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550408" y="3785616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50408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 rowspan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141464" y="749808"/>
            <a:ext cx="1554480" cy="41879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141464" y="749808"/>
            <a:ext cx="155448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2" name="Text 60"/>
          <p:cNvSpPr/>
          <p:nvPr/>
        </p:nvSpPr>
        <p:spPr>
          <a:xfrm>
            <a:off x="7141464" y="749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7232904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232904" y="1664208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32904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232904" y="2194560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32904" y="2267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232904" y="2724912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32904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&lt;dl&gt;&lt;dt&gt;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232904" y="3255264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32904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&lt;dd&gt;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232904" y="3785616"/>
            <a:ext cx="1371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32904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lists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28090">
                    <a:alpha val="1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Code!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Validate · Repeat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9077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  —  W3C HTML Validator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—  MDN Web Docs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6758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  —  Interactive Tutorials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1793</Words>
  <Application>Microsoft Office PowerPoint</Application>
  <PresentationFormat>On-screen Show (16:9)</PresentationFormat>
  <Paragraphs>398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HTML5 – Live Training</dc:title>
  <dc:subject>PptxGenJS Presentation</dc:subject>
  <dc:creator>PptxGenJS</dc:creator>
  <cp:lastModifiedBy>Venkatgiri Ganesh T</cp:lastModifiedBy>
  <cp:revision>2</cp:revision>
  <dcterms:created xsi:type="dcterms:W3CDTF">2026-02-15T11:09:15Z</dcterms:created>
  <dcterms:modified xsi:type="dcterms:W3CDTF">2026-02-15T11:57:46Z</dcterms:modified>
</cp:coreProperties>
</file>
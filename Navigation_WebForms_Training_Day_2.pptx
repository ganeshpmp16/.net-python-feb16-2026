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8946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Navigation &amp; Web Forms 2.0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E0F2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for Web Development Freshers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0" y="3840480"/>
            <a:ext cx="2743200" cy="73152"/>
          </a:xfrm>
          <a:prstGeom prst="rect">
            <a:avLst/>
          </a:prstGeom>
          <a:solidFill>
            <a:srgbClr val="02C39A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14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Agenda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4173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137160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</a:rPr>
              <a:t>Navigation Fundamentals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169164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Links, anchors, and the &lt;nav&gt; element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8229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22860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224028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</a:rPr>
              <a:t>Navigation Patterns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71600" y="256032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Menus, breadcrumbs, and hierarchical linking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31546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71600" y="310896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</a:rPr>
              <a:t>Web Forms 2.0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71600" y="342900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New input types and built-in validation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3886200"/>
            <a:ext cx="8229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31520" y="40233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71600" y="397764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</a:rPr>
              <a:t>Advanced Form Elements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71600" y="429768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Datalist, progress, and meter elements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Navigation in HTML</a:t>
            </a:r>
            <a:endParaRPr lang="en-US" sz="4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14F59"/>
                </a:solidFill>
              </a:rPr>
              <a:t>Navigation Links &amp; Anchors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28016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13258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14F59"/>
                </a:solidFill>
              </a:rPr>
              <a:t>Key Concepts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31520" y="178308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The </a:t>
            </a:r>
            <a:r>
              <a:rPr lang="en-US" sz="14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&lt;a&gt;</a:t>
            </a:r>
            <a:r>
              <a:rPr lang="en-US" sz="1400" dirty="0">
                <a:solidFill>
                  <a:srgbClr val="1E293B"/>
                </a:solidFill>
              </a:rPr>
              <a:t> (anchor) element creates hyperlinks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The </a:t>
            </a:r>
            <a:r>
              <a:rPr lang="en-US" sz="14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&lt;nav&gt;</a:t>
            </a:r>
            <a:r>
              <a:rPr lang="en-US" sz="1400" dirty="0">
                <a:solidFill>
                  <a:srgbClr val="1E293B"/>
                </a:solidFill>
              </a:rPr>
              <a:t> element is a semantic container for navigation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Improves accessibility and SEO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Helps screen readers identify navigation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937760" y="12801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</a:rPr>
              <a:t>Example Code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937760" y="169164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&lt;nav&gt;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&lt;a </a:t>
            </a:r>
            <a:r>
              <a:rPr lang="en-US" sz="13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href=</a:t>
            </a: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"index.html"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&gt;Home&lt;/a&gt;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&lt;a </a:t>
            </a:r>
            <a:r>
              <a:rPr lang="en-US" sz="13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href=</a:t>
            </a: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"about.html"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&gt;About&lt;/a&gt;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&lt;/nav&gt;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14F59"/>
                </a:solidFill>
              </a:rPr>
              <a:t>Understanding Paths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188720"/>
            <a:ext cx="73152" cy="15544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14F59"/>
                </a:solidFill>
              </a:rPr>
              <a:t>Absolute Paths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6916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Complete URL from domain root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057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/about/team.html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0" y="1188720"/>
            <a:ext cx="411480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0" y="1188720"/>
            <a:ext cx="73152" cy="15544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371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14F59"/>
                </a:solidFill>
              </a:rPr>
              <a:t>Relative Paths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846320" y="16916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Relative to current page location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2057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../index.html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14F59"/>
                </a:solidFill>
              </a:rPr>
              <a:t>Common Examples: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" y="342900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contact.html</a:t>
            </a:r>
            <a:r>
              <a:rPr lang="en-US" sz="1400" dirty="0">
                <a:solidFill>
                  <a:srgbClr val="1E293B"/>
                </a:solidFill>
              </a:rPr>
              <a:t> — Same directory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74904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products/electronics.html</a:t>
            </a:r>
            <a:r>
              <a:rPr lang="en-US" sz="1400" dirty="0">
                <a:solidFill>
                  <a:srgbClr val="1E293B"/>
                </a:solidFill>
              </a:rPr>
              <a:t> — Subdirectory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406908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../index.html</a:t>
            </a:r>
            <a:r>
              <a:rPr lang="en-US" sz="1400" dirty="0">
                <a:solidFill>
                  <a:srgbClr val="1E293B"/>
                </a:solidFill>
              </a:rPr>
              <a:t> — Parent directory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438912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/images/logo.png</a:t>
            </a:r>
            <a:r>
              <a:rPr lang="en-US" sz="1400" dirty="0">
                <a:solidFill>
                  <a:srgbClr val="1E293B"/>
                </a:solidFill>
              </a:rPr>
              <a:t> — Absolute from root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14F59"/>
                </a:solidFill>
              </a:rPr>
              <a:t>Navigation Menus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6304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132588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14F59"/>
                </a:solidFill>
              </a:rPr>
              <a:t>Horizontal Menus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280160" y="16459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Items displayed in a row, common for main navigation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583680" y="1554480"/>
            <a:ext cx="1920240" cy="274320"/>
          </a:xfrm>
          <a:prstGeom prst="rect">
            <a:avLst/>
          </a:prstGeom>
          <a:solidFill>
            <a:srgbClr val="00A89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display: flex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233172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60604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246888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14F59"/>
                </a:solidFill>
              </a:rPr>
              <a:t>Vertical Menus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1280160" y="27889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Items stacked vertically, used for sidebars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6583680" y="2697480"/>
            <a:ext cx="1920240" cy="274320"/>
          </a:xfrm>
          <a:prstGeom prst="rect">
            <a:avLst/>
          </a:prstGeom>
          <a:solidFill>
            <a:srgbClr val="00A89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display: block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57200" y="347472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74904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80160" y="361188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14F59"/>
                </a:solidFill>
              </a:rPr>
              <a:t>Dropdown Menus</a:t>
            </a:r>
            <a:endParaRPr lang="en-US" sz="2000" dirty="0"/>
          </a:p>
        </p:txBody>
      </p:sp>
      <p:sp>
        <p:nvSpPr>
          <p:cNvPr id="16" name="Text 11"/>
          <p:cNvSpPr/>
          <p:nvPr/>
        </p:nvSpPr>
        <p:spPr>
          <a:xfrm>
            <a:off x="1280160" y="39319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Nested menus that appear on hover or click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6583680" y="3840480"/>
            <a:ext cx="1920240" cy="274320"/>
          </a:xfrm>
          <a:prstGeom prst="rect">
            <a:avLst/>
          </a:prstGeom>
          <a:solidFill>
            <a:srgbClr val="00A89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position: absolute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14F59"/>
                </a:solidFill>
              </a:rPr>
              <a:t>Breadcrumbs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371600" y="1188720"/>
            <a:ext cx="64008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645920" y="13258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28090"/>
                </a:solidFill>
              </a:rPr>
              <a:t>Home</a:t>
            </a:r>
            <a:endParaRPr lang="en-US" sz="1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760" y="141732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017520" y="13258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28090"/>
                </a:solidFill>
              </a:rPr>
              <a:t>Products</a:t>
            </a:r>
            <a:endParaRPr lang="en-US" sz="16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417320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63440" y="13258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28090"/>
                </a:solidFill>
              </a:rPr>
              <a:t>Electronics</a:t>
            </a:r>
            <a:endParaRPr lang="en-US" sz="16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417320"/>
            <a:ext cx="274320" cy="2743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492240" y="13258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</a:rPr>
              <a:t>Smartphones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457200" y="2286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14F59"/>
                </a:solidFill>
              </a:rPr>
              <a:t>Benefits of Breadcrumbs:</a:t>
            </a:r>
            <a:endParaRPr lang="en-US" sz="20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788920"/>
            <a:ext cx="228600" cy="2286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97280" y="2743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Shows users their current location in the site hierarchy</a:t>
            </a:r>
            <a:endParaRPr lang="en-US" sz="14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200400"/>
            <a:ext cx="228600" cy="2286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097280" y="31546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Reduces clicks needed to navigate to parent pages</a:t>
            </a:r>
            <a:endParaRPr lang="en-US" sz="14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611880"/>
            <a:ext cx="228600" cy="22860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097280" y="3566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Improves SEO with structured data markup</a:t>
            </a:r>
            <a:endParaRPr lang="en-US" sz="14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023360"/>
            <a:ext cx="228600" cy="22860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1097280" y="3977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Enhances accessibility for screen readers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14F59"/>
                </a:solidFill>
              </a:rPr>
              <a:t>Hierarchical Linking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09728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691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93B"/>
                </a:solidFill>
              </a:rPr>
              <a:t>Creates a logical structure mirroring site organization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3200400" y="2194560"/>
            <a:ext cx="2743200" cy="5486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3"/>
          <p:cNvSpPr/>
          <p:nvPr/>
        </p:nvSpPr>
        <p:spPr>
          <a:xfrm>
            <a:off x="3200400" y="21945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Main Navigation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1371600" y="3017520"/>
            <a:ext cx="1828800" cy="4572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8" name="Text 5"/>
          <p:cNvSpPr/>
          <p:nvPr/>
        </p:nvSpPr>
        <p:spPr>
          <a:xfrm>
            <a:off x="1371600" y="3017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Company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657600" y="3017520"/>
            <a:ext cx="1828800" cy="4572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0" name="Text 7"/>
          <p:cNvSpPr/>
          <p:nvPr/>
        </p:nvSpPr>
        <p:spPr>
          <a:xfrm>
            <a:off x="3657600" y="3017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Products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943600" y="3017520"/>
            <a:ext cx="1828800" cy="4572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2" name="Text 9"/>
          <p:cNvSpPr/>
          <p:nvPr/>
        </p:nvSpPr>
        <p:spPr>
          <a:xfrm>
            <a:off x="5943600" y="3017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Support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1828800" y="3749040"/>
            <a:ext cx="1371600" cy="4114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4" name="Text 11"/>
          <p:cNvSpPr/>
          <p:nvPr/>
        </p:nvSpPr>
        <p:spPr>
          <a:xfrm>
            <a:off x="1828800" y="37490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14F59"/>
                </a:solidFill>
              </a:rPr>
              <a:t>About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886200" y="3749040"/>
            <a:ext cx="1371600" cy="4114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6" name="Text 13"/>
          <p:cNvSpPr/>
          <p:nvPr/>
        </p:nvSpPr>
        <p:spPr>
          <a:xfrm>
            <a:off x="3886200" y="37490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14F59"/>
                </a:solidFill>
              </a:rPr>
              <a:t>Software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943600" y="3749040"/>
            <a:ext cx="1371600" cy="4114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8" name="Text 15"/>
          <p:cNvSpPr/>
          <p:nvPr/>
        </p:nvSpPr>
        <p:spPr>
          <a:xfrm>
            <a:off x="5943600" y="37490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14F59"/>
                </a:solidFill>
              </a:rPr>
              <a:t>Contact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2C39A"/>
                </a:solidFill>
              </a:rPr>
              <a:t>Part 2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Web Forms 2.0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0F2F1"/>
                </a:solidFill>
              </a:rPr>
              <a:t>HTML5 Form Enhancements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14F59"/>
                </a:solidFill>
              </a:rPr>
              <a:t>New HTML5 Input Types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7432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7160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325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14F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40080" y="17830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Email address with validation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429000" y="1188720"/>
            <a:ext cx="27432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137160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069080" y="1325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14F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3611880" y="17830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Website URL validation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400800" y="1188720"/>
            <a:ext cx="27432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137160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040880" y="1325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14F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6583680" y="17830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Telephone number input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457200" y="2423160"/>
            <a:ext cx="27432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2606040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97280" y="25603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14F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640080" y="30175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Numeric input with min/max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3429000" y="2423160"/>
            <a:ext cx="27432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1880" y="2606040"/>
            <a:ext cx="365760" cy="36576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069080" y="25603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14F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3611880" y="30175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Date picker interface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6400800" y="2423160"/>
            <a:ext cx="27432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3680" y="2606040"/>
            <a:ext cx="365760" cy="36576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7040880" y="25603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14F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endParaRPr lang="en-US" sz="1600" dirty="0"/>
          </a:p>
        </p:txBody>
      </p:sp>
      <p:sp>
        <p:nvSpPr>
          <p:cNvPr id="26" name="Text 18"/>
          <p:cNvSpPr/>
          <p:nvPr/>
        </p:nvSpPr>
        <p:spPr>
          <a:xfrm>
            <a:off x="6583680" y="30175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Color picker tool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14F59"/>
                </a:solidFill>
              </a:rPr>
              <a:t>Built-in Validation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</a:rPr>
              <a:t>HTML5 provides client-side validation without JavaScript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63040"/>
            <a:ext cx="73152" cy="7772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54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14F59"/>
                </a:solidFill>
              </a:rPr>
              <a:t>required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84708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Field must be filled out before submission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0" y="1645920"/>
            <a:ext cx="301752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5577840" y="16916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type="text" required&gt;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33172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331720"/>
            <a:ext cx="73152" cy="7772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423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14F59"/>
                </a:solidFill>
              </a:rPr>
              <a:t>pattern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27157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Validates input against a regular expression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0" y="2514600"/>
            <a:ext cx="301752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" name="Text 13"/>
          <p:cNvSpPr/>
          <p:nvPr/>
        </p:nvSpPr>
        <p:spPr>
          <a:xfrm>
            <a:off x="5577840" y="25603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pattern="[0-9]{5}"&gt;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20040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200400"/>
            <a:ext cx="73152" cy="7772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291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14F59"/>
                </a:solidFill>
              </a:rPr>
              <a:t>minlength / maxlength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1520" y="358444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Minimum and maximum string length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0" y="3383280"/>
            <a:ext cx="301752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1" name="Text 19"/>
          <p:cNvSpPr/>
          <p:nvPr/>
        </p:nvSpPr>
        <p:spPr>
          <a:xfrm>
            <a:off x="5577840" y="34290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minlength="8" maxlength="20"&gt;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06908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4069080"/>
            <a:ext cx="73152" cy="7772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4160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14F59"/>
                </a:solidFill>
              </a:rPr>
              <a:t>min / max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31520" y="445312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Minimum and maximum numeric values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0" y="4251960"/>
            <a:ext cx="301752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5"/>
          <p:cNvSpPr/>
          <p:nvPr/>
        </p:nvSpPr>
        <p:spPr>
          <a:xfrm>
            <a:off x="5577840" y="42976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type="number" min="1" max="10"&gt;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14F59"/>
                </a:solidFill>
              </a:rPr>
              <a:t>Improved Input Controls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29844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placeholder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Hint text displayed in empty fields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663440" y="1188720"/>
            <a:ext cx="4023360" cy="82296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0" y="1463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placeholder="Enter email..."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402336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225856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autofocus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2514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Automatically focuses field on page load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2148840"/>
            <a:ext cx="4023360" cy="82296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0" y="2423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autofocus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402336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321868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autocomplete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0080" y="3474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Browser-assisted form filling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3108960"/>
            <a:ext cx="4023360" cy="82296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0" y="3383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autocomplete="email"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069080"/>
            <a:ext cx="402336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0080" y="417880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multiple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0080" y="4434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Allows multiple file/email selections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63440" y="4069080"/>
            <a:ext cx="4023360" cy="82296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46320" y="4343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multiple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14F59"/>
                </a:solidFill>
              </a:rPr>
              <a:t>The &lt;datalist&gt; Element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280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14F59"/>
                </a:solidFill>
              </a:rPr>
              <a:t>What is &lt;datalist&gt;?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Provides autocomplete suggestions for input fields, combining flexibility of text input with convenience of predefined options.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14F59"/>
                </a:solidFill>
              </a:rPr>
              <a:t>Key Features: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83464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Users can type custom values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Suggestions appear while typing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No JavaScript required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2801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</a:rPr>
              <a:t>Example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37760" y="169164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</a:t>
            </a:r>
            <a:r>
              <a:rPr lang="en-US" sz="12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list=</a:t>
            </a:r>
            <a:r>
              <a:rPr lang="en-US" sz="12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"browsers"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r>
              <a:rPr lang="en-US" sz="12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id=</a:t>
            </a:r>
            <a:r>
              <a:rPr lang="en-US" sz="12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"browser"</a:t>
            </a: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&lt;datalist </a:t>
            </a:r>
            <a:r>
              <a:rPr lang="en-US" sz="12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id=</a:t>
            </a:r>
            <a:r>
              <a:rPr lang="en-US" sz="12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"browsers"</a:t>
            </a: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&lt;option </a:t>
            </a:r>
            <a:r>
              <a:rPr lang="en-US" sz="12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value=</a:t>
            </a:r>
            <a:r>
              <a:rPr lang="en-US" sz="12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"Chrome"</a:t>
            </a:r>
            <a:r>
              <a:rPr lang="en-US" sz="12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&lt;option </a:t>
            </a:r>
            <a:r>
              <a:rPr lang="en-US" sz="12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value=</a:t>
            </a:r>
            <a:r>
              <a:rPr lang="en-US" sz="12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"Firefox"</a:t>
            </a:r>
            <a:r>
              <a:rPr lang="en-US" sz="12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&lt;option </a:t>
            </a:r>
            <a:r>
              <a:rPr lang="en-US" sz="12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value=</a:t>
            </a:r>
            <a:r>
              <a:rPr lang="en-US" sz="12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"Safari"</a:t>
            </a:r>
            <a:r>
              <a:rPr lang="en-US" sz="12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&lt;/datalist&gt;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14F59"/>
                </a:solidFill>
              </a:rPr>
              <a:t>The &lt;progress&gt; Element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23444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137160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</a:rPr>
              <a:t>Displays task completion progress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457200" y="192024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210312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14F59"/>
                </a:solidFill>
              </a:rPr>
              <a:t>Upload Progress: 45%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31520" y="2423160"/>
            <a:ext cx="7680960" cy="3200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Shape 5"/>
          <p:cNvSpPr/>
          <p:nvPr/>
        </p:nvSpPr>
        <p:spPr>
          <a:xfrm>
            <a:off x="731520" y="2423160"/>
            <a:ext cx="3456432" cy="320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Shape 6"/>
          <p:cNvSpPr/>
          <p:nvPr/>
        </p:nvSpPr>
        <p:spPr>
          <a:xfrm>
            <a:off x="457200" y="3200400"/>
            <a:ext cx="8229600" cy="128016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31520" y="338328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</a:rPr>
              <a:t>Code Example: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31520" y="3703320"/>
            <a:ext cx="7680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&lt;progress </a:t>
            </a:r>
            <a:r>
              <a:rPr lang="en-US" sz="13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id=</a:t>
            </a: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"fileProgress"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r>
              <a:rPr lang="en-US" sz="13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value=</a:t>
            </a: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"45"</a:t>
            </a:r>
            <a:r>
              <a:rPr lang="en-US" sz="13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max=</a:t>
            </a: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"100"</a:t>
            </a: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45%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&lt;/progress&gt;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14F59"/>
                </a:solidFill>
              </a:rPr>
              <a:t>The &lt;meter&gt; Element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23444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137160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</a:rPr>
              <a:t>Represents a scalar measurement within a known range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457200" y="192024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20116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14F59"/>
                </a:solidFill>
              </a:rPr>
              <a:t>Disk Usage: 75%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200400" y="2103120"/>
            <a:ext cx="5029200" cy="2743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Shape 5"/>
          <p:cNvSpPr/>
          <p:nvPr/>
        </p:nvSpPr>
        <p:spPr>
          <a:xfrm>
            <a:off x="3200400" y="2103120"/>
            <a:ext cx="3771900" cy="274320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9" name="Shape 6"/>
          <p:cNvSpPr/>
          <p:nvPr/>
        </p:nvSpPr>
        <p:spPr>
          <a:xfrm>
            <a:off x="457200" y="269748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31520" y="27889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14F59"/>
                </a:solidFill>
              </a:rPr>
              <a:t>Battery: 65%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200400" y="2880360"/>
            <a:ext cx="5029200" cy="2743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Shape 9"/>
          <p:cNvSpPr/>
          <p:nvPr/>
        </p:nvSpPr>
        <p:spPr>
          <a:xfrm>
            <a:off x="3200400" y="2880360"/>
            <a:ext cx="3268980" cy="27432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3" name="Shape 10"/>
          <p:cNvSpPr/>
          <p:nvPr/>
        </p:nvSpPr>
        <p:spPr>
          <a:xfrm>
            <a:off x="457200" y="347472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31520" y="3566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14F59"/>
                </a:solidFill>
              </a:rPr>
              <a:t>Score: 85%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3200400" y="3657600"/>
            <a:ext cx="5029200" cy="2743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" name="Shape 13"/>
          <p:cNvSpPr/>
          <p:nvPr/>
        </p:nvSpPr>
        <p:spPr>
          <a:xfrm>
            <a:off x="3200400" y="3657600"/>
            <a:ext cx="4274820" cy="2743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7" name="Shape 14"/>
          <p:cNvSpPr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Text 15"/>
          <p:cNvSpPr/>
          <p:nvPr/>
        </p:nvSpPr>
        <p:spPr>
          <a:xfrm>
            <a:off x="731520" y="40690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&lt;meter </a:t>
            </a:r>
            <a:r>
              <a:rPr lang="en-US" sz="11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value=</a:t>
            </a:r>
            <a:r>
              <a:rPr lang="en-US" sz="11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"75"</a:t>
            </a:r>
            <a:r>
              <a:rPr lang="en-US" sz="11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min=</a:t>
            </a:r>
            <a:r>
              <a:rPr lang="en-US" sz="11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"0"</a:t>
            </a:r>
            <a:r>
              <a:rPr lang="en-US" sz="11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max=</a:t>
            </a:r>
            <a:r>
              <a:rPr lang="en-US" sz="11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"100"</a:t>
            </a:r>
            <a:r>
              <a:rPr lang="en-US" sz="11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low=</a:t>
            </a:r>
            <a:r>
              <a:rPr lang="en-US" sz="11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"40"</a:t>
            </a:r>
            <a:r>
              <a:rPr lang="en-US" sz="11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high=</a:t>
            </a:r>
            <a:r>
              <a:rPr lang="en-US" sz="11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"80"</a:t>
            </a:r>
            <a:r>
              <a:rPr lang="en-US" sz="11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&gt;&lt;/meter&gt;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14F59"/>
                </a:solidFill>
              </a:rPr>
              <a:t>Progress vs Meter</a:t>
            </a:r>
            <a:endParaRPr lang="en-US" sz="3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32004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&lt;progress&gt;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&lt;meter&gt;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Purpose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Task completion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Scalar measurement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Use Case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File uploads, loading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Disk usage, battery level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Direction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Always increasing to 100%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Can fluctuate up or down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Color Coding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No color indicators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Green/yellow/red based on value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14F59"/>
                </a:solidFill>
              </a:rPr>
              <a:t>Best Practices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2588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1280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</a:rPr>
              <a:t>Always use semantic HTML elements for better accessibility</a:t>
            </a:r>
            <a:endParaRPr lang="en-US" sz="15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828800"/>
            <a:ext cx="274320" cy="2743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88720" y="1783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</a:rPr>
              <a:t>Leverage built-in validation before custom JavaScript</a:t>
            </a:r>
            <a:endParaRPr lang="en-US" sz="15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331720"/>
            <a:ext cx="274320" cy="27432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188720" y="2286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</a:rPr>
              <a:t>Use appropriate input types for better mobile keyboards</a:t>
            </a:r>
            <a:endParaRPr lang="en-US" sz="15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834640"/>
            <a:ext cx="274320" cy="27432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188720" y="2788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</a:rPr>
              <a:t>Implement breadcrumbs for deep site hierarchies</a:t>
            </a:r>
            <a:endParaRPr lang="en-US" sz="15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337560"/>
            <a:ext cx="274320" cy="27432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188720" y="3291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</a:rPr>
              <a:t>Test navigation with keyboard-only users</a:t>
            </a:r>
            <a:endParaRPr lang="en-US" sz="150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840480"/>
            <a:ext cx="274320" cy="27432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1188720" y="3794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</a:rPr>
              <a:t>Provide clear visual feedback on form validation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Key Takeaways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solidFill>
            <a:srgbClr val="FFFFFF">
              <a:alpha val="90000"/>
            </a:srgbClr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508760"/>
            <a:ext cx="411480" cy="4114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087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14F59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80160" y="155448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Navigation creates user-friendly site structures</a:t>
            </a:r>
            <a:endParaRPr lang="en-US" sz="1600" dirty="0">
              <a:solidFill>
                <a:schemeClr val="accent1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8229600" cy="685800"/>
          </a:xfrm>
          <a:prstGeom prst="rect">
            <a:avLst/>
          </a:prstGeom>
          <a:solidFill>
            <a:srgbClr val="FFFFFF">
              <a:alpha val="90000"/>
            </a:srgbClr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331720"/>
            <a:ext cx="411480" cy="4114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331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14F59"/>
                </a:solidFill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80160" y="237744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chemeClr val="accent1"/>
                </a:solidFill>
              </a:rPr>
              <a:t>HTML5 forms reduce JavaScript dependency</a:t>
            </a:r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8229600" cy="685800"/>
          </a:xfrm>
          <a:prstGeom prst="rect">
            <a:avLst/>
          </a:prstGeom>
          <a:solidFill>
            <a:srgbClr val="FFFFFF">
              <a:alpha val="90000"/>
            </a:srgbClr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3154680"/>
            <a:ext cx="411480" cy="4114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154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14F59"/>
                </a:solidFill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80160" y="320040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Built-in validation improves user experience</a:t>
            </a:r>
          </a:p>
        </p:txBody>
      </p:sp>
      <p:sp>
        <p:nvSpPr>
          <p:cNvPr id="15" name="Shape 13"/>
          <p:cNvSpPr/>
          <p:nvPr/>
        </p:nvSpPr>
        <p:spPr>
          <a:xfrm>
            <a:off x="457200" y="3840480"/>
            <a:ext cx="8229600" cy="685800"/>
          </a:xfrm>
          <a:prstGeom prst="rect">
            <a:avLst/>
          </a:prstGeom>
          <a:solidFill>
            <a:srgbClr val="FFFFFF">
              <a:alpha val="90000"/>
            </a:srgbClr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3977640"/>
            <a:ext cx="411480" cy="4114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9776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14F59"/>
                </a:solidFill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280160" y="402336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chemeClr val="accent1"/>
                </a:solidFill>
              </a:rPr>
              <a:t>Semantic elements enhance accessibility and SEO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14F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</a:rPr>
              <a:t>Thank You!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2C39A"/>
                </a:solidFill>
              </a:rPr>
              <a:t>Questions?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0" y="3657600"/>
            <a:ext cx="2743200" cy="73152"/>
          </a:xfrm>
          <a:prstGeom prst="rect">
            <a:avLst/>
          </a:prstGeom>
          <a:solidFill>
            <a:srgbClr val="02C39A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763</Words>
  <Application>Microsoft Office PowerPoint</Application>
  <PresentationFormat>On-screen Show (16:9)</PresentationFormat>
  <Paragraphs>197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Navigation and Web Forms 2.0</dc:title>
  <dc:subject>PptxGenJS Presentation</dc:subject>
  <dc:creator>Web Development Training</dc:creator>
  <cp:lastModifiedBy>Venkatgiri Ganesh T</cp:lastModifiedBy>
  <cp:revision>2</cp:revision>
  <dcterms:created xsi:type="dcterms:W3CDTF">2026-02-08T12:22:33Z</dcterms:created>
  <dcterms:modified xsi:type="dcterms:W3CDTF">2026-02-08T14:26:22Z</dcterms:modified>
</cp:coreProperties>
</file>
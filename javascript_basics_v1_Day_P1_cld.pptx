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5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4908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097280"/>
            <a:ext cx="3657600" cy="36576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926080"/>
            <a:ext cx="2743200" cy="274320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0"/>
            <a:ext cx="45720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822960"/>
            <a:ext cx="2011680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82296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274320" y="3017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22D3EE"/>
                </a:solidFill>
              </a:rPr>
              <a:t>LEARNING MODULE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3337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18CF8"/>
                </a:solidFill>
              </a:rPr>
              <a:t>Web Development Series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0" y="7315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389120" y="1143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438912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 &amp; Control Flow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89120" y="2743200"/>
            <a:ext cx="36576" cy="2560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74320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Runtime Environment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9120" y="3127248"/>
            <a:ext cx="36576" cy="2560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312724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Data Types &amp; Operators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0" y="3511296"/>
            <a:ext cx="36576" cy="2560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51129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Flow: if-else &amp; switch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89120" y="3895344"/>
            <a:ext cx="36576" cy="2560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389534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&amp; Ternary Operator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490118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49011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Introduction to JavaScript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097280"/>
            <a:ext cx="3657600" cy="36576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926080"/>
            <a:ext cx="2743200" cy="274320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237744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SECTION 1 — OVERVIEW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JavaScript?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621792"/>
            <a:ext cx="54864" cy="5486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25880"/>
            <a:ext cx="411480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6304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</a:rPr>
              <a:t>Core Language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94360" y="196596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Brendan Eich in 1995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called Mocha → LiveScript → JavaScript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Conforms to the ECMAScript standard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ES6+ introduced: arrow functions, classes, modules, async/await</a:t>
            </a:r>
            <a:endParaRPr lang="en-US" sz="12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3258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3533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Key Characteristics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663440" y="1920240"/>
            <a:ext cx="196596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202996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73168" y="2514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Interpreted &amp; Dynamic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812280" y="1920240"/>
            <a:ext cx="196596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2029968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22008" y="2514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Prototype-Based OOP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663440" y="3291840"/>
            <a:ext cx="196596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80" y="3401568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773168" y="38862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Functions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812280" y="3291840"/>
            <a:ext cx="196596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0" y="3401568"/>
            <a:ext cx="411480" cy="4114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22008" y="38862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&amp; Async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8686800" y="490118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274320" y="49011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Section 1 — Overview of JavaScript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SECTION 1 —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Web Development &amp; Inclusion Methods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54864" cy="5486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89888"/>
            <a:ext cx="17373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89888"/>
            <a:ext cx="1737360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53896"/>
            <a:ext cx="45720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93852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Frontend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75488" y="2286000"/>
            <a:ext cx="15179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UIs, DOM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manipulation, events.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validation, carousels.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86000" y="1389888"/>
            <a:ext cx="17373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286000" y="1389888"/>
            <a:ext cx="173736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1453896"/>
            <a:ext cx="45720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377440" y="193852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Backend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395728" y="2286000"/>
            <a:ext cx="15179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APIs, databases,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logic.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APIs, authentication.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206240" y="1389888"/>
            <a:ext cx="17373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206240" y="1389888"/>
            <a:ext cx="173736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453896"/>
            <a:ext cx="45720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297680" y="193852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Full-Stack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315968" y="2286000"/>
            <a:ext cx="15179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code between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&amp; server.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Next.js, MERN stack.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035040" y="129844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Methods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6035040" y="1719072"/>
            <a:ext cx="54864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172200" y="1719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Inline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172200" y="2011680"/>
            <a:ext cx="278892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217920" y="202082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onclick="alert('Hi!')"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035040" y="2615184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172200" y="2615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Internal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172200" y="2907792"/>
            <a:ext cx="278892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217920" y="291693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 ... &lt;/script&gt;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6035040" y="3511296"/>
            <a:ext cx="54864" cy="6400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172200" y="35112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External (Recommended)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6172200" y="3803904"/>
            <a:ext cx="278892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217920" y="38130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src="app.js" defer&gt;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365760" y="3703320"/>
            <a:ext cx="5486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0"/>
          <p:cNvSpPr/>
          <p:nvPr/>
        </p:nvSpPr>
        <p:spPr>
          <a:xfrm>
            <a:off x="548640" y="37673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</a:rPr>
              <a:t>💡  TIP: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1371600" y="3749040"/>
            <a:ext cx="4206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Use defer (runs after HTML parse) or async (runs on download) to control script loading. External JS is best practice for maintainability.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8686800" y="490118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3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274320" y="49011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Section 1 — Overview of JavaScript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097280"/>
            <a:ext cx="3657600" cy="36576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926080"/>
            <a:ext cx="2743200" cy="274320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237744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SECTION 1 — OVERVIEW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Runtime Environments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621792"/>
            <a:ext cx="54864" cy="5486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98448"/>
            <a:ext cx="402336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98448"/>
            <a:ext cx="4023360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35024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13533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Browser Runtime (Client-Side)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18470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Engines: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148840"/>
            <a:ext cx="54864" cy="21945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21488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V8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938528" y="21488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— Chrome, Edge, Node.js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2441448"/>
            <a:ext cx="54864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2441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SpiderMonkey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938528" y="24414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— Firefox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2734056"/>
            <a:ext cx="54864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27340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</a:rPr>
              <a:t>JavaScriptCore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938528" y="273405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— Safari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3108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Also Provides: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6928" y="34015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</a:rPr>
              <a:t>DOM API — HTML element access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66928" y="36941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</a:rPr>
              <a:t>Web APIs — fetch, localStorage, setTimeout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66928" y="398678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</a:rPr>
              <a:t>Event Loop — async operations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66928" y="42793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</a:rPr>
              <a:t>Call Stack — function execution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754880" y="1298448"/>
            <a:ext cx="402336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754880" y="1298448"/>
            <a:ext cx="402336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335024"/>
            <a:ext cx="347472" cy="34747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303520" y="13533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Node.js Runtime (Server-Side)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4937760" y="184708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Built on Chrome's V8 engine — JS outside browsers.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4937760" y="2322576"/>
            <a:ext cx="54864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047488" y="23225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</a:rPr>
              <a:t>File systems, networks, databases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4937760" y="2651760"/>
            <a:ext cx="54864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047488" y="2651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</a:rPr>
              <a:t>Built-in modules (fs, http, path, os)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4937760" y="2980944"/>
            <a:ext cx="54864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047488" y="29809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</a:rPr>
              <a:t>npm — hundreds of thousands of packages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4937760" y="3310128"/>
            <a:ext cx="54864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047488" y="3310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</a:rPr>
              <a:t>Non-blocking I/O for high performance</a:t>
            </a:r>
            <a:endParaRPr lang="en-US" sz="1150" dirty="0"/>
          </a:p>
        </p:txBody>
      </p:sp>
      <p:sp>
        <p:nvSpPr>
          <p:cNvPr id="40" name="Shape 36"/>
          <p:cNvSpPr/>
          <p:nvPr/>
        </p:nvSpPr>
        <p:spPr>
          <a:xfrm>
            <a:off x="4754880" y="3630168"/>
            <a:ext cx="402336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754880" y="3630168"/>
            <a:ext cx="402336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4864608" y="368503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5001768" y="368503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5138928" y="368503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864608" y="3886200"/>
            <a:ext cx="3803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Node.js: reading a file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fs = require('fs');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fs.readFile('data.txt', 'utf8',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(err, data) =&gt; console.log(data));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8686800" y="490118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4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274320" y="49011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Section 1 — Overview of JavaScript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16712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SECTION 2 — BASICS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— var, let &amp; const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54864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2794" y="1378634"/>
            <a:ext cx="2651760" cy="256032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265176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Scope: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196596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Function / Global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4048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Hoisting: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45920" y="240487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Yes (undefined)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284378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Reassignable: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45920" y="284378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</a:rPr>
              <a:t>Yes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28269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Redeclarable: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45920" y="328269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</a:rPr>
              <a:t>Yes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0" y="1371600"/>
            <a:ext cx="2651760" cy="256032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371600"/>
            <a:ext cx="265176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13716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337560" y="19659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Scope: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196596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Block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37560" y="24048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Hoisting: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0560" y="240487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Yes (TDZ)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37560" y="284378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Reassignable: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0560" y="284378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</a:rPr>
              <a:t>Yes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37560" y="328269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Redeclarable: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80560" y="328269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</a:rPr>
              <a:t>No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35040" y="1371600"/>
            <a:ext cx="2651760" cy="256032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1371600"/>
            <a:ext cx="265176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13716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172200" y="19659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Scope: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0" y="196596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Block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172200" y="24048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Hoisting: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0" y="240487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Yes (TDZ)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172200" y="284378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Reassignable: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0" y="284378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</a:rPr>
              <a:t>No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172200" y="328269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Redeclarable: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15200" y="328269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</a:rPr>
              <a:t>No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65760" y="4023360"/>
            <a:ext cx="8412480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4023360"/>
            <a:ext cx="64008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09651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</a:rPr>
              <a:t>Best Practice: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783080" y="4078224"/>
            <a:ext cx="6766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3A5F"/>
                </a:solidFill>
              </a:rPr>
              <a:t>Prefer const &gt; let &gt; var.  Use const by default; switch to let only when reassignment is needed.  Avoid var in modern JS.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65760" y="1353312"/>
            <a:ext cx="18288" cy="1828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53312"/>
            <a:ext cx="18288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" y="14081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2648" y="14081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9808" y="14081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" y="1609344"/>
            <a:ext cx="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86800" y="490118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74320" y="49011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Section 2 — JavaScript Basics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097280"/>
            <a:ext cx="3657600" cy="36576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926080"/>
            <a:ext cx="2743200" cy="274320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216712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SECTION 2 — BASICS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621792"/>
            <a:ext cx="54864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984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Primitives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18745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45920"/>
            <a:ext cx="64008" cy="5943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91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19476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  'World'  `Template`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31720" y="1645920"/>
            <a:ext cx="18745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31720" y="1645920"/>
            <a:ext cx="64008" cy="5943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691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468880" y="19476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 3.14  -7  Infinity  NaN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331720"/>
            <a:ext cx="18745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331720"/>
            <a:ext cx="64008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377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BigInt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26334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9007199254740993n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331720" y="2331720"/>
            <a:ext cx="18745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331720" y="2331720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2377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468880" y="26334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 false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017520"/>
            <a:ext cx="18745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017520"/>
            <a:ext cx="64008" cy="5943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063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2920" y="33192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x; // not assigned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331720" y="3017520"/>
            <a:ext cx="18745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331720" y="3017520"/>
            <a:ext cx="64008" cy="5943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3063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468880" y="33192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 = null;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703320"/>
            <a:ext cx="18745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3703320"/>
            <a:ext cx="64008" cy="594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749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02920" y="40050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Symbol('id')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3703320"/>
            <a:ext cx="18745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3703320"/>
            <a:ext cx="64008" cy="594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749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02920" y="40050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Symbol('id')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389120" y="1298448"/>
            <a:ext cx="438912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572000" y="13716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Non-Primitive: Object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572000" y="1719072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person = { name: "Alice", age: 30 }; // Object literal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colors = ["red","green","blue"];    // Array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greet = (name) =&gt; "Hello " + name; // Function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389120" y="2816352"/>
            <a:ext cx="4389120" cy="19019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572000" y="28803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</a:rPr>
              <a:t>Type Coercion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572000" y="3218688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"5" + 3    → </a:t>
            </a:r>
            <a:r>
              <a:rPr lang="en-US" sz="11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"53"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(string concat)
"5" - 3    → </a:t>
            </a:r>
            <a:r>
              <a:rPr lang="en-US" sz="11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(number)
"5" == 5   → </a:t>
            </a:r>
            <a:r>
              <a:rPr lang="en-US" sz="115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(loose ==)
"5" === 5  → </a:t>
            </a:r>
            <a:r>
              <a:rPr lang="en-US" sz="11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(strict ===)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0" y="490118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74320" y="49011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Section 2 — JavaScript Basics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16712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SECTION 2 — BASICS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&amp; Expressions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54864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4114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411480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Arithmetic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Addition / Concat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87168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 Subtraction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" y="20939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Multiplication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87168" y="20939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 Division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" y="2404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 Modulus (remainder)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87168" y="2404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 Exponentiation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1371600"/>
            <a:ext cx="4114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371600"/>
            <a:ext cx="4114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371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Comparison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18888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Loose equality (coerces)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30568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Strict equality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18888" y="20939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 Loose not-equal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30568" y="20939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!== Strict not-equal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18888" y="2404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 /  &gt;=  Greater than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30568" y="2404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 /  &lt;=  Less than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2926080"/>
            <a:ext cx="4114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926080"/>
            <a:ext cx="41148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926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Logical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75488" y="3337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AND — both truthy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487168" y="3337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 OR  — either truthy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" y="36484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 NOT — invert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487168" y="36484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?? Nullish coalescing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2926080"/>
            <a:ext cx="4114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2926080"/>
            <a:ext cx="411480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926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Assignment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818888" y="3337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 Assign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830568" y="3337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+=  Add &amp; assign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18888" y="36484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-=  Subtract &amp; assign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830568" y="36484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*=  Multiply &amp; assign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18888" y="3959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/=  Divide &amp; assign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830568" y="3959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**= Exponent &amp; assign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4498848"/>
            <a:ext cx="8412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48640" y="453542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</a:rPr>
              <a:t>Expression = any code that resolves to a value: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977640" y="4535424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5+3→8  |  'Hi'+'there'→'Hithere'  |  Math.round(3.7)→4  |  age&gt;=18&amp;&amp;hasID→true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0" y="490118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7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74320" y="49011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Section 2 — JavaScript Basics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097280"/>
            <a:ext cx="3657600" cy="36576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926080"/>
            <a:ext cx="2743200" cy="274320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279806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SECTION 3 — CONTROL FLOW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— if / else if / else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621792"/>
            <a:ext cx="54864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98448"/>
            <a:ext cx="4023360" cy="2331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298448"/>
            <a:ext cx="402336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135331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" y="135331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35331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554480"/>
            <a:ext cx="38039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(condition)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runs when true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(condition2)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runs if above false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fallback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298448"/>
            <a:ext cx="4023360" cy="2331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298448"/>
            <a:ext cx="402336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64608" y="135331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01768" y="135331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38928" y="135331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1554480"/>
            <a:ext cx="38039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score = 78, grade;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(score &gt;= 90)      grade = 'A';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(score &gt;= 80) grade = 'B';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(score &gt;= 70) grade = 'C';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(score &gt;= 60) grade = 'D';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                 grade = 'F';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grade = 'C'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749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Truthy &amp; Falsy Values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4096512"/>
            <a:ext cx="4114800" cy="256032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965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FALSY — condition fails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4096512"/>
            <a:ext cx="4114800" cy="25603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40965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TRUTHY — condition passes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4407408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783080" y="4407408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/ -0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154680" y="4407408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 (empty)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1480" y="4645152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783080" y="4645152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154680" y="4645152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81728" y="4407408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053328" y="4407408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Non-zero numbers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424928" y="4407408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 (non-empty)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681728" y="4645152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{} (objects/arrays)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053328" y="4645152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 function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424928" y="4645152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Infinity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0" y="490118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8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4320" y="49011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Section 3 — Control Flow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79806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SECTION 3 — CONTROL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switch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54864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3931920" cy="3291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393192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3807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138074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3807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581912"/>
            <a:ext cx="371246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day = 'Wednesday';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(day)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'Monday':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'Tuesday':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'Wednesday':  // fall-through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'Thursday':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'Friday':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 = 'Weekday!';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'Saturday':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'Sunday':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 = 'Weekend!';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 = 'Invalid day.';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1325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6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755648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029200" y="1755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strict equality (===) for matching</a:t>
            </a:r>
            <a:endParaRPr lang="en-US" sz="1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231136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29200" y="22311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exits the switch block</a:t>
            </a:r>
            <a:endParaRPr lang="en-US" sz="1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70662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29200" y="27066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Omitting break causes fall-through (intentional or bug!)</a:t>
            </a:r>
            <a:endParaRPr lang="en-US" sz="12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182112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029200" y="3182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handles unmatched cases (optional)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663440" y="37033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66F1"/>
                </a:solidFill>
              </a:rPr>
              <a:t>switch  vs  if-else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4663440" y="4041648"/>
            <a:ext cx="201168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675120" y="4041648"/>
            <a:ext cx="210312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709160" y="405993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720840" y="405993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if-else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663440" y="4297680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675120" y="4297680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709160" y="431596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value matching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720840" y="431596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Range / complex conditions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663440" y="4553712"/>
            <a:ext cx="2011680" cy="256032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675120" y="4553712"/>
            <a:ext cx="2103120" cy="256032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709160" y="457200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equality (===)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6720840" y="457200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Any comparison operator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4663440" y="4809744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675120" y="4809744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4709160" y="482803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discrete cases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6720840" y="482803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Boolean expressions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8686800" y="490118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9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274320" y="49011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Section 3 — Control Flow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097280"/>
            <a:ext cx="3657600" cy="36576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926080"/>
            <a:ext cx="2743200" cy="274320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2798064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SECTION 3 — CONTROL FLOW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in JavaScript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621792"/>
            <a:ext cx="54864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98448"/>
            <a:ext cx="2651760" cy="15361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98448"/>
            <a:ext cx="2651760" cy="40233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1673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" y="17739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Known iterations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" y="2093976"/>
            <a:ext cx="242316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12140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i=0; i&lt;5; i++)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82112" y="1298448"/>
            <a:ext cx="2651760" cy="15361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82112" y="1298448"/>
            <a:ext cx="2651760" cy="40233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31673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91840" y="17739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Condition-based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2093976"/>
            <a:ext cx="242316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46704" y="212140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(count &gt; 0)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98464" y="1298448"/>
            <a:ext cx="2651760" cy="15361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98464" y="1298448"/>
            <a:ext cx="265176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08192" y="131673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do-while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108192" y="17739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Runs at least once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08192" y="2093976"/>
            <a:ext cx="242316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212140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 ... } while (cond)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990088"/>
            <a:ext cx="2651760" cy="15361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990088"/>
            <a:ext cx="265176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00837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for...of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75488" y="34655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Values of iterable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" y="3785616"/>
            <a:ext cx="242316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381304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x of array)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82112" y="2990088"/>
            <a:ext cx="2651760" cy="15361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82112" y="2990088"/>
            <a:ext cx="2651760" cy="40233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300837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for...in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291840" y="34655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Keys of an object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91840" y="3785616"/>
            <a:ext cx="242316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46704" y="381304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k in obj)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572000"/>
            <a:ext cx="841248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02920" y="460857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298448" y="460857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— exits loop immediately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663440" y="460857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87568" y="46085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— skips current iteration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0" y="490118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74320" y="49011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Section 3 — Control Flow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798064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SECTION 3 — CONTROL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Operator &amp; Short-Circuit Evaluation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54864" cy="5486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</a:rPr>
              <a:t>Syntax: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4173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  ?  expressionIfTrue  :  expressionIfFalse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206240" cy="18745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20240"/>
            <a:ext cx="420624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9751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" y="19751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19751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176272"/>
            <a:ext cx="39867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Basic ternary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age = 20;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 = age &gt;= 18 ? 'Adult' : 'Minor';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 = 'Adult'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 a function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isEven(n)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 % 2 === 0 ? 'Even' : 'Odd';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</a:rPr>
              <a:t>Short-Circuit Evaluation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2331720"/>
            <a:ext cx="40690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331720"/>
            <a:ext cx="502920" cy="8961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331720"/>
            <a:ext cx="5029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49240" y="237744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Right runs only if left is truthy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349240" y="2697480"/>
            <a:ext cx="3337560" cy="411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13248" y="27249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isLoggedIn &amp;&amp; showDashboard();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319272"/>
            <a:ext cx="40690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319272"/>
            <a:ext cx="502920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319272"/>
            <a:ext cx="5029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49240" y="336499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Returns right if left is falsy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349240" y="3685032"/>
            <a:ext cx="3337560" cy="411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13248" y="37124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name = user || "Guest";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4306824"/>
            <a:ext cx="40690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4306824"/>
            <a:ext cx="502920" cy="8961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4306824"/>
            <a:ext cx="5029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??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49240" y="435254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Returns right only if left is null/undefined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330952" y="4599432"/>
            <a:ext cx="3337560" cy="411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13248" y="47000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 = 0 ?? 18; // 0 (not 18)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886200"/>
            <a:ext cx="4206240" cy="8046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886200"/>
            <a:ext cx="420624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" y="39410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" y="39410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808" y="39410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4142232"/>
            <a:ext cx="39867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Nested ternary (use sparingly)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g = s&gt;=90 ? 'A' : s&gt;=80 ? 'B' : s&gt;=70 ? 'C' : 'F';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0" y="490118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4320" y="49011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Section 3 — Control Flow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097280"/>
            <a:ext cx="3657600" cy="36576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926080"/>
            <a:ext cx="2743200" cy="274320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JavaScript — Quick Reference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548640"/>
            <a:ext cx="859536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548640"/>
            <a:ext cx="64008" cy="5486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594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37360" y="566928"/>
            <a:ext cx="18288" cy="4937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585216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&gt; let &gt; var.  const = block, no reassign.  let = block, reassignable.  var = legacy, function scope.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1170432"/>
            <a:ext cx="859536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170432"/>
            <a:ext cx="64008" cy="5486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2161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737360" y="1188720"/>
            <a:ext cx="18288" cy="4937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207008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Primitives: String, Number, BigInt, Boolean, undefined, null, Symbol.  1 Reference: Object (arrays, functions).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1792224"/>
            <a:ext cx="859536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792224"/>
            <a:ext cx="64008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83794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737360" y="1810512"/>
            <a:ext cx="18288" cy="4937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182880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(+−*/%), Comparison (== vs ===), Logical (&amp;&amp;  ||  !  ??), Assignment (+=  −=  *=  /=).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2414016"/>
            <a:ext cx="859536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414016"/>
            <a:ext cx="6400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45973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737360" y="2432304"/>
            <a:ext cx="18288" cy="4937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2450592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based on truthy/falsy.  Use === for strict comparison.  Chain with else if for multiple paths.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4320" y="3035808"/>
            <a:ext cx="859536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035808"/>
            <a:ext cx="64008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0815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737360" y="3054096"/>
            <a:ext cx="18288" cy="4937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0" y="3072384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value matching with ===.  Always break to prevent fall-through.  Use default for unmatched cases.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74320" y="3657600"/>
            <a:ext cx="859536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657600"/>
            <a:ext cx="64008" cy="548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703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737360" y="3675888"/>
            <a:ext cx="18288" cy="4937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0" y="3694176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(count), while (condition), do-while (once+), for...of (values), for...in (keys).  Control: break / continue.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74320" y="4279392"/>
            <a:ext cx="859536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4279392"/>
            <a:ext cx="64008" cy="5486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3251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737360" y="4297680"/>
            <a:ext cx="18288" cy="4937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0" y="4315968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 ? ifTrue : ifFalse.  One-line if-else for simple assignments.  Short-circuit: &amp;&amp;  ||  ?? patterns.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0" y="490118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4320" y="49011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Introduction to JavaScript — End of Module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</TotalTime>
  <Words>1480</Words>
  <Application>Microsoft Office PowerPoint</Application>
  <PresentationFormat>On-screen Show (16:9)</PresentationFormat>
  <Paragraphs>316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JavaScript</dc:title>
  <dc:subject>PptxGenJS Presentation</dc:subject>
  <dc:creator>Learning Module</dc:creator>
  <cp:lastModifiedBy>Venkatgiri Ganesh T</cp:lastModifiedBy>
  <cp:revision>3</cp:revision>
  <dcterms:created xsi:type="dcterms:W3CDTF">2026-02-12T17:35:56Z</dcterms:created>
  <dcterms:modified xsi:type="dcterms:W3CDTF">2026-02-19T14:01:25Z</dcterms:modified>
</cp:coreProperties>
</file>
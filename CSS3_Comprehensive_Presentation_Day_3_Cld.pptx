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image" Target="../media/image-34-6.png"/><Relationship Id="rId7" Type="http://schemas.openxmlformats.org/officeDocument/2006/relationships/image" Target="../media/image-3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097280"/>
            <a:ext cx="1280160" cy="1280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INTRODUCTION TO CSS3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914400" y="3291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Text and Fonts | Box Model | Colors &amp; Backgrounds | Modern Layouts | Selectors | Responsive Design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14400" y="4389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8F4F8"/>
                </a:solidFill>
              </a:rPr>
              <a:t>A Comprehensive Guide to Modern Web Styling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Table of Contents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6400800" cy="457200"/>
          </a:xfrm>
          <a:prstGeom prst="rect">
            <a:avLst/>
          </a:prstGeom>
          <a:solidFill>
            <a:srgbClr val="E8F4F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28016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11680" y="1188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743200" y="1188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 of CSS3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371600" y="1737360"/>
            <a:ext cx="6400800" cy="457200"/>
          </a:xfrm>
          <a:prstGeom prst="rect">
            <a:avLst/>
          </a:prstGeom>
          <a:solidFill>
            <a:srgbClr val="E8F4F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8288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011680" y="17373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2743200" y="1737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Text and Fonts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1371600" y="2286000"/>
            <a:ext cx="6400800" cy="457200"/>
          </a:xfrm>
          <a:prstGeom prst="rect">
            <a:avLst/>
          </a:prstGeom>
          <a:solidFill>
            <a:srgbClr val="E8F4F8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237744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011680" y="2286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274320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Model Basics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1371600" y="2834640"/>
            <a:ext cx="6400800" cy="457200"/>
          </a:xfrm>
          <a:prstGeom prst="rect">
            <a:avLst/>
          </a:prstGeom>
          <a:solidFill>
            <a:srgbClr val="E8F4F8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292608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011680" y="2834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2743200" y="2834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Colors, Backgrounds &amp; Borders</a:t>
            </a:r>
            <a:endParaRPr lang="en-US" sz="1800" dirty="0"/>
          </a:p>
        </p:txBody>
      </p:sp>
      <p:sp>
        <p:nvSpPr>
          <p:cNvPr id="19" name="Shape 13"/>
          <p:cNvSpPr/>
          <p:nvPr/>
        </p:nvSpPr>
        <p:spPr>
          <a:xfrm>
            <a:off x="1371600" y="3383280"/>
            <a:ext cx="6400800" cy="457200"/>
          </a:xfrm>
          <a:prstGeom prst="rect">
            <a:avLst/>
          </a:prstGeom>
          <a:solidFill>
            <a:srgbClr val="E8F4F8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4480" y="347472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2011680" y="3383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15"/>
          <p:cNvSpPr/>
          <p:nvPr/>
        </p:nvSpPr>
        <p:spPr>
          <a:xfrm>
            <a:off x="2743200" y="3383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with CSS</a:t>
            </a:r>
            <a:endParaRPr lang="en-US" sz="1800" dirty="0"/>
          </a:p>
        </p:txBody>
      </p:sp>
      <p:sp>
        <p:nvSpPr>
          <p:cNvPr id="23" name="Shape 16"/>
          <p:cNvSpPr/>
          <p:nvPr/>
        </p:nvSpPr>
        <p:spPr>
          <a:xfrm>
            <a:off x="1371600" y="3931920"/>
            <a:ext cx="6400800" cy="457200"/>
          </a:xfrm>
          <a:prstGeom prst="rect">
            <a:avLst/>
          </a:prstGeom>
          <a:solidFill>
            <a:srgbClr val="E8F4F8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4480" y="4023360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2011680" y="39319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000" dirty="0"/>
          </a:p>
        </p:txBody>
      </p:sp>
      <p:sp>
        <p:nvSpPr>
          <p:cNvPr id="26" name="Text 18"/>
          <p:cNvSpPr/>
          <p:nvPr/>
        </p:nvSpPr>
        <p:spPr>
          <a:xfrm>
            <a:off x="2743200" y="3931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Selectors</a:t>
            </a:r>
            <a:endParaRPr lang="en-US" sz="1800" dirty="0"/>
          </a:p>
        </p:txBody>
      </p:sp>
      <p:sp>
        <p:nvSpPr>
          <p:cNvPr id="27" name="Shape 19"/>
          <p:cNvSpPr/>
          <p:nvPr/>
        </p:nvSpPr>
        <p:spPr>
          <a:xfrm>
            <a:off x="1371600" y="4480560"/>
            <a:ext cx="6400800" cy="457200"/>
          </a:xfrm>
          <a:prstGeom prst="rect">
            <a:avLst/>
          </a:prstGeom>
          <a:solidFill>
            <a:srgbClr val="E8F4F8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4480" y="4572000"/>
            <a:ext cx="274320" cy="27432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2011680" y="44805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2000" dirty="0"/>
          </a:p>
        </p:txBody>
      </p:sp>
      <p:sp>
        <p:nvSpPr>
          <p:cNvPr id="30" name="Text 21"/>
          <p:cNvSpPr/>
          <p:nvPr/>
        </p:nvSpPr>
        <p:spPr>
          <a:xfrm>
            <a:off x="2743200" y="4480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 &amp; RWD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645920"/>
            <a:ext cx="1280160" cy="1280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BASICS OF CSS3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CSS3?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(Cascading Style Sheets Level 3) is a style sheet language used to describe the presentation of HTML documents. It's modular, meaning features are developed in independent modules.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Controls: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423160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24688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and positioning of elements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788920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28346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Colors, backgrounds, and visual effects</a:t>
            </a:r>
            <a:endParaRPr lang="en-US" sz="1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54680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32004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 and text formatting</a:t>
            </a:r>
            <a:endParaRPr lang="en-US" sz="15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520440"/>
            <a:ext cx="228600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5840" y="35661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 and transitions</a:t>
            </a:r>
            <a:endParaRPr lang="en-US" sz="15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886200"/>
            <a:ext cx="228600" cy="2286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05840" y="39319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for different screen sizes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CSS3 Works with HTML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38100" dist="1905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CSS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style="color: blue;"&gt;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Quick, single-element styling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822960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38100" dist="1905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468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CSS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&lt;style&gt; body { } &lt;/style&gt;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specific styles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38100" dist="1905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657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CSS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39776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rel="stylesheet" href="style.css"&gt;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251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websites (recommended)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645920"/>
            <a:ext cx="1280160" cy="1280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STYLING TEXT AND FONTS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Text Formatting Properties</a:t>
            </a:r>
            <a:endParaRPr lang="en-US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657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hex, rgb, rgba, hsl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Sets text color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text-align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left, right, center, justify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Horizontal text alignment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text-decoration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none, underline, overline, line-through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decorative lines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text-transform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uppercase, lowercase, capitalize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Controls text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line-height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number, length,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Spacing between lines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letter-spacing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normal, length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 between characters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text-shadow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h-offset v-offset blur color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shadow effects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1005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2286000" y="1005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Font Properties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258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Specifies typeface: Arial, 'Times New Roman', serif, sans-serif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2402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font-size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in px, em, rem, %, or keywords (small, medium, large)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1546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font-weight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474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Thickness: normal, bold, bolder, lighter, 100-900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40690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font-style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43891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normal, italic, oblique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 Fonts &amp; @font-face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allows custom fonts using the @font-face rule: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1554480"/>
            <a:ext cx="7315200" cy="1371600"/>
          </a:xfrm>
          <a:prstGeom prst="rect">
            <a:avLst/>
          </a:prstGeom>
          <a:solidFill>
            <a:srgbClr val="F8F9FA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69164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@font-face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font-family: 'CustomFont';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src: url('font.woff2') format('woff2');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font-weight: normal;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font-style: normal;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Web Font Services: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749040"/>
            <a:ext cx="2560320" cy="45720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38100" dist="1905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3749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3749040"/>
            <a:ext cx="2560320" cy="45720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38100" dist="1905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3749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 Fonts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3749040"/>
            <a:ext cx="2560320" cy="45720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38100" dist="1905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3749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Squirrel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645920"/>
            <a:ext cx="1280160" cy="1280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BOX MODEL BASICS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Box Model Components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HTML element is a rectangular box with four distinct areas: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828800" y="1554480"/>
            <a:ext cx="5486400" cy="292608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011680" y="16916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0" y="2103120"/>
            <a:ext cx="4572000" cy="20116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7" name="Text 5"/>
          <p:cNvSpPr/>
          <p:nvPr/>
        </p:nvSpPr>
        <p:spPr>
          <a:xfrm>
            <a:off x="2468880" y="22402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0" y="2606040"/>
            <a:ext cx="3657600" cy="1188720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743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3108960"/>
            <a:ext cx="274320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3108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Padding, Border &amp; Margin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38100" dist="1905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inside element, between content and border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0" y="128016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padding: 20px;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padding: 10px 15px;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8229600" cy="109728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38100" dist="1905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Surrounds padding and content with customizable style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25146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border: 2px solid #333;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border-radius: 10px;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38100" dist="1905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39776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outside border, separates from other elements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374904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margin: 20px auto;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margin-top: 30px;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Box-Sizing Property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how width and height are calculated: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1554480"/>
            <a:ext cx="7315200" cy="914400"/>
          </a:xfrm>
          <a:prstGeom prst="rect">
            <a:avLst/>
          </a:prstGeom>
          <a:solidFill>
            <a:srgbClr val="E8F4F8"/>
          </a:solidFill>
          <a:ln w="25400">
            <a:solidFill>
              <a:srgbClr val="64748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1691640"/>
            <a:ext cx="6766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content-box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965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(Default) Width/height applies only to content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0" y="16916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behavior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651760"/>
            <a:ext cx="7315200" cy="91440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88720" y="2788920"/>
            <a:ext cx="6766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border-box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3063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Width/height includes padding and border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0" y="27889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3931920"/>
            <a:ext cx="7315200" cy="822960"/>
          </a:xfrm>
          <a:prstGeom prst="rect">
            <a:avLst/>
          </a:prstGeom>
          <a:solidFill>
            <a:srgbClr val="FFF9C4"/>
          </a:solidFill>
          <a:ln/>
          <a:effectLst>
            <a:outerShdw sx="100000" sy="100000" kx="0" ky="0" algn="bl" rotWithShape="0" blurRad="38100" dist="1905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97280" y="406908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Recommended global setting */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{ box-sizing: border-box; }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645920"/>
            <a:ext cx="1280160" cy="1280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COLORS, BACKGROUNDS &amp; BORDERS</a:t>
            </a:r>
            <a:endParaRPr lang="en-US" sz="3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Color Formats in CSS3</a:t>
            </a:r>
            <a:endParaRPr lang="en-US" sz="3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32004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Colors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red, blue, crimson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147 predefined color names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Hexadecimal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#FF5733, #F73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or 3 digit hex values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rgb(255, 87, 51)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Red, Green, Blue (0-255)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rgba(255, 87, 51, 0.8)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 with alpha transparency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hsl(10, 100%, 60%)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Hue, Saturation, Lightness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hsla(10, 100%, 60%, 0.8)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HSL with alpha transparency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1005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2743200" y="1005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0" y="10058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Background Properties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51560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097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background-color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297680" y="10972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solid background color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0876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1554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background-image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297680" y="15544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url('image.jpg') or gradient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65960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2011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background-repeat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4297680" y="20116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repeat, no-repeat, repeat-x, repeat-y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423160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05840" y="2468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background-position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4297680" y="24688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left, center, 50% 50%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880360"/>
            <a:ext cx="228600" cy="2286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05840" y="2926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background-size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4297680" y="29260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cover, contain, 100% auto</a:t>
            </a:r>
            <a:endParaRPr lang="en-US" sz="13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337560"/>
            <a:ext cx="228600" cy="2286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005840" y="3383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background-attachment</a:t>
            </a:r>
            <a:endParaRPr lang="en-US" sz="1400" dirty="0"/>
          </a:p>
        </p:txBody>
      </p:sp>
      <p:sp>
        <p:nvSpPr>
          <p:cNvPr id="20" name="Text 12"/>
          <p:cNvSpPr/>
          <p:nvPr/>
        </p:nvSpPr>
        <p:spPr>
          <a:xfrm>
            <a:off x="4297680" y="33832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scroll, fixed, local</a:t>
            </a:r>
            <a:endParaRPr lang="en-US" sz="1300" dirty="0"/>
          </a:p>
        </p:txBody>
      </p:sp>
      <p:sp>
        <p:nvSpPr>
          <p:cNvPr id="21" name="Text 13"/>
          <p:cNvSpPr/>
          <p:nvPr/>
        </p:nvSpPr>
        <p:spPr>
          <a:xfrm>
            <a:off x="457200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Backgrounds:</a:t>
            </a:r>
            <a:endParaRPr lang="en-US" sz="1800" dirty="0"/>
          </a:p>
        </p:txBody>
      </p:sp>
      <p:sp>
        <p:nvSpPr>
          <p:cNvPr id="22" name="Shape 14"/>
          <p:cNvSpPr/>
          <p:nvPr/>
        </p:nvSpPr>
        <p:spPr>
          <a:xfrm>
            <a:off x="457200" y="4114800"/>
            <a:ext cx="3931920" cy="594360"/>
          </a:xfrm>
          <a:prstGeom prst="rect">
            <a:avLst/>
          </a:prstGeom>
          <a:solidFill>
            <a:srgbClr val="F8F9FA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38100" dist="19050" dir="8100000">
              <a:srgbClr val="000000">
                <a:alpha val="10000"/>
              </a:srgbClr>
            </a:outerShdw>
          </a:effectLst>
        </p:spPr>
      </p:sp>
      <p:sp>
        <p:nvSpPr>
          <p:cNvPr id="23" name="Text 15"/>
          <p:cNvSpPr/>
          <p:nvPr/>
        </p:nvSpPr>
        <p:spPr>
          <a:xfrm>
            <a:off x="640080" y="42062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background: linear-gradient(to right, #ff0000, #0000ff);</a:t>
            </a:r>
            <a:endParaRPr lang="en-US" sz="1000" dirty="0"/>
          </a:p>
        </p:txBody>
      </p:sp>
      <p:sp>
        <p:nvSpPr>
          <p:cNvPr id="24" name="Shape 16"/>
          <p:cNvSpPr/>
          <p:nvPr/>
        </p:nvSpPr>
        <p:spPr>
          <a:xfrm>
            <a:off x="4754880" y="4114800"/>
            <a:ext cx="3931920" cy="594360"/>
          </a:xfrm>
          <a:prstGeom prst="rect">
            <a:avLst/>
          </a:prstGeom>
          <a:solidFill>
            <a:srgbClr val="F8F9FA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38100" dist="19050" dir="8100000">
              <a:srgbClr val="000000">
                <a:alpha val="10000"/>
              </a:srgbClr>
            </a:outerShdw>
          </a:effectLst>
        </p:spPr>
      </p:sp>
      <p:sp>
        <p:nvSpPr>
          <p:cNvPr id="25" name="Text 17"/>
          <p:cNvSpPr/>
          <p:nvPr/>
        </p:nvSpPr>
        <p:spPr>
          <a:xfrm>
            <a:off x="4937760" y="42062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background: radial-gradient(circle, #fff, #000);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Advanced Border Effects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Radius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border-radius: 10px;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border-radius: 50%; /* Circle */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8229600" cy="100584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468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Shadow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box-shadow: 5px 5px 10px rgba(0,0,0,0.3);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box-shadow: inset 0 0 10px #ccc;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657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Styles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40233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border: 2px solid #333;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border: 3px dashed blue;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645920"/>
            <a:ext cx="1280160" cy="1280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LAYOUT WITH CSS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Display Properties</a:t>
            </a:r>
            <a:endParaRPr lang="en-US" sz="3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Takes full width, starts on new line (div, p, h1)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Flows with text, width/height ignored (span, 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inline-block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Flows inline but accepts width/height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flexbox container for flexible layouts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grid container for 2D layouts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 removed from document flow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10058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468880" y="100584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Flexbox Layout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One-dimensional layout method for arranging items in rows or columns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Properties: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3931920" cy="2560320"/>
          </a:xfrm>
          <a:prstGeom prst="rect">
            <a:avLst/>
          </a:prstGeom>
          <a:solidFill>
            <a:srgbClr val="F8F9FA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01168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display: flex;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flex-direction: row;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flex-wrap: wrap;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justify-content: center;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align-items: center;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gap: 20px;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463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Properties: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754880" y="1874520"/>
            <a:ext cx="3931920" cy="2560320"/>
          </a:xfrm>
          <a:prstGeom prst="rect">
            <a:avLst/>
          </a:prstGeom>
          <a:solidFill>
            <a:srgbClr val="F8F9FA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201168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flex-grow: 1;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flex-shrink: 1;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flex-basis: 200px;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Shorthand */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flex: 1 1 200px;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align-self: flex-end;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order: 2;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CSS Grid Layout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Two-dimensional layout system for complex page layouts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Properties: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3931920" cy="2560320"/>
          </a:xfrm>
          <a:prstGeom prst="rect">
            <a:avLst/>
          </a:prstGeom>
          <a:solidFill>
            <a:srgbClr val="F8F9FA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01168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display: grid;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grid-template-columns: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repeat(3, 1fr);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grid-template-rows: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100px auto 200px;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gap: 20px;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1463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Properties: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754880" y="1874520"/>
            <a:ext cx="3931920" cy="2560320"/>
          </a:xfrm>
          <a:prstGeom prst="rect">
            <a:avLst/>
          </a:prstGeom>
          <a:solidFill>
            <a:srgbClr val="F8F9FA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201168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Column placement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grid-column: 1 / 3;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grid-column: span 2;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Row placement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grid-row: 2 / 4;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justify-self: end;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align-self: start;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645920"/>
            <a:ext cx="1280160" cy="1280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CSS SELECTORS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Basic Selectors</a:t>
            </a:r>
            <a:endParaRPr lang="en-US" sz="3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92608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657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elements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&lt;p&gt; elements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.highlight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Elements with class='highlight'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#header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 with id='header'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[type='text']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Elements with type='text'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1005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286000" y="1005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0" y="1005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Combinators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38100" dist="1905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80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Descendant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017520" y="1280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 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0" y="12801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&lt;p&gt; inside &lt;div&gt;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194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01752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 &gt; 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21945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&lt;p&gt; children of &lt;div&gt;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38100" dist="1905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Sibling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17520" y="3108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+ 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31089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&lt;p&gt; immediately after &lt;h1&gt;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4023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Sibling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017520" y="4023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~ 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40233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&lt;p&gt; siblings after &lt;h1&gt;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Pseudo-Classes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elements based on state or position: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228600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:hover, :active, :focus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754880" y="15544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states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11680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:first-child, :last-child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754880" y="2057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in parent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14600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:nth-child(n)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4754880" y="2560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nth child (e.g., :nth-child(2n) for even)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017520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05840" y="3063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:not(selector)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4754880" y="3063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not matching selector</a:t>
            </a:r>
            <a:endParaRPr lang="en-US" sz="13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520440"/>
            <a:ext cx="228600" cy="2286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0584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:checked, :disabled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4754880" y="35661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element states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Pseudo-Elements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specific parts of elements: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0" y="1554480"/>
            <a:ext cx="7315200" cy="2560320"/>
          </a:xfrm>
          <a:prstGeom prst="rect">
            <a:avLst/>
          </a:prstGeom>
          <a:solidFill>
            <a:srgbClr val="F8F9FA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691640"/>
            <a:ext cx="6949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p::first-line { font-weight: bold; 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p::first-letter { font-size: 2em; 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p::before { content: '→ '; 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p::after { content: ' ←'; 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::selection { background: yellow; }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645920"/>
            <a:ext cx="1280160" cy="1280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MEDIA QUERIES &amp; RWD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are Media Queries?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 apply CSS rules based on device characteristics like screen width, height, orientation, and resolution.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8229600" cy="2651760"/>
          </a:xfrm>
          <a:prstGeom prst="rect">
            <a:avLst/>
          </a:prstGeom>
          <a:solidFill>
            <a:srgbClr val="F8F9FA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7452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Mobile-first approach */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{ font-size: 14px; 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Tablet and larger */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(min-width: 768px)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body { font-size: 16px;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Desktop */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(min-width: 1024px)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body { font-size: 18px;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Common Breakpoints</a:t>
            </a:r>
            <a:endParaRPr lang="en-US" sz="36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097280"/>
          <a:ext cx="7315200" cy="256032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Breakpoint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Query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576px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(max-width: 575px)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576px - 768px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(min-width: 576px)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Desktop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768px - 1024px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(min-width: 768px)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Desktop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1024px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(min-width: 1024px)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2"/>
          <p:cNvSpPr/>
          <p:nvPr/>
        </p:nvSpPr>
        <p:spPr>
          <a:xfrm>
            <a:off x="914400" y="1097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200400" y="1097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Breakpoint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0" y="1097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Query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931920"/>
            <a:ext cx="731520" cy="73152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3931920"/>
            <a:ext cx="731520" cy="73152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93192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Media Query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38100" dist="1905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80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&amp; Height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017520" y="128016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(min-width: 768px), (max-height: 600px)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48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017520" y="214884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(orientation: portrait), (orientation: landscape)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8229600" cy="77724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38100" dist="1905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017520" y="301752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(min-resolution: 2dppx)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886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 Ratio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17520" y="388620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(min-aspect-ratio: 16/9)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Mobile-First vs Desktop-First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46304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25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styles for mobile, use min-width to add complexity for larger screens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Modern websites, progressive enhancement, better performance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8229600" cy="146304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971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Desktop-First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styles for desktop, use max-width to simplify for smaller screens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8404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Legacy projects, desktop-focused applications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RWD Best Practices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51560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0972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Viewport Meta Tag: Always include &lt;meta name="viewport" content="width=device-width, initial-scale=1.0"&gt;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5840" y="16916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Images: Use max-width: 100%; height: auto; to prevent overflow</a:t>
            </a:r>
            <a:endParaRPr lang="en-US" sz="13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40280"/>
            <a:ext cx="228600" cy="228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05840" y="22860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Units: Prefer em, rem, %, and vw/vh over fixed pixels</a:t>
            </a:r>
            <a:endParaRPr lang="en-US" sz="13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834640"/>
            <a:ext cx="228600" cy="2286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05840" y="288036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Real Devices: Don't rely solely on browser dev tools</a:t>
            </a:r>
            <a:endParaRPr lang="en-US" sz="13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429000"/>
            <a:ext cx="228600" cy="2286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05840" y="347472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Prioritization: Show important content first on mobile</a:t>
            </a:r>
            <a:endParaRPr lang="en-US" sz="13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023360"/>
            <a:ext cx="228600" cy="2286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005840" y="40690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Touch-Friendly: Make buttons at least 44x44px for easy tapping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Responsive Design Example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383280"/>
          </a:xfrm>
          <a:prstGeom prst="rect">
            <a:avLst/>
          </a:prstGeom>
          <a:solidFill>
            <a:srgbClr val="F8F9FA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4300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Mobile-first navigation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.nav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flex-direction: column;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10px;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Tablet and up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(min-width: 768px)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.nav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flex-direction: row;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justify-content: space-around;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Desktop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(min-width: 1024px)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.nav { max-width: 1200px; margin: 0 auto;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38100" dist="1905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07592"/>
            <a:ext cx="219456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1887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is modular and provides powerful styling capabilities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682496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10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01368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1682496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 box model for precise layout control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2176272"/>
            <a:ext cx="8229600" cy="45720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38100" dist="1905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95144"/>
            <a:ext cx="219456" cy="219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2176272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Flexbox for one-dimensional layouts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" y="2670048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788920"/>
            <a:ext cx="219456" cy="2194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05840" y="267004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Grid for complex two-dimensional layouts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457200" y="3163824"/>
            <a:ext cx="8229600" cy="45720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38100" dist="1905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282696"/>
            <a:ext cx="219456" cy="21945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05840" y="3163824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 enable precise element targeting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776472"/>
            <a:ext cx="219456" cy="21945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05840" y="36576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 are essential for responsive design</a:t>
            </a:r>
            <a:endParaRPr lang="en-US" sz="1400" dirty="0"/>
          </a:p>
        </p:txBody>
      </p:sp>
      <p:sp>
        <p:nvSpPr>
          <p:cNvPr id="21" name="Shape 13"/>
          <p:cNvSpPr/>
          <p:nvPr/>
        </p:nvSpPr>
        <p:spPr>
          <a:xfrm>
            <a:off x="457200" y="4151376"/>
            <a:ext cx="8229600" cy="45720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38100" dist="19050" dir="8100000">
              <a:srgbClr val="000000">
                <a:alpha val="10000"/>
              </a:srgbClr>
            </a:outerShdw>
          </a:effectLst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270248"/>
            <a:ext cx="219456" cy="219456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005840" y="4151376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approach is recommended for modern websites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371600"/>
            <a:ext cx="1280160" cy="1280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914400" y="3657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CSS3 to create beautiful, accessible, and responsive websites that work seamlessly across all devices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14400" y="4480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practicing and stay updated with new CSS features!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CSS3</dc:title>
  <dc:subject>PptxGenJS Presentation</dc:subject>
  <dc:creator>CSS3 Learning Guide</dc:creator>
  <cp:lastModifiedBy>CSS3 Learning Guide</cp:lastModifiedBy>
  <cp:revision>1</cp:revision>
  <dcterms:created xsi:type="dcterms:W3CDTF">2026-02-11T10:15:53Z</dcterms:created>
  <dcterms:modified xsi:type="dcterms:W3CDTF">2026-02-11T10:15:53Z</dcterms:modified>
</cp:coreProperties>
</file>